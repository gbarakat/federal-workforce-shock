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1: Shock Overview. How big was the 2025 shock? Build spec: KPI · Total separations (12m) (Card; count · separation_category · personnel_action_effective_date_yyyymm (rolling 12-month measure)) | KPI · DRP separations (Card; count · drp_indicator = Y · personnel_action_effective_date_yyyymm) | KPI · % above forecast (Card; count · personnel_action_effective_date_yyyymm · forecast table: forecast_count (SARIMA, trained ≤ 202501)) | KPI · Net flow (Card (rule-based font colour); count (accessions) − count (separations) · personnel_action_effective_date_yyyymm) | Monthly separations vs forecast (Line chart + error band (forecast_lo95/hi95) + X-axis constant line at 202501; DRP stacked area via Deneb or area-chart overlay; X: personnel_action_effective_date_yyyymm · Y: count, forecast_count, forecast_lo95, forecast_hi95 · Split: drp_indicator) | Top 10 agencies · excess separations (Stacked bar chart, Top N = 10 filter; Y: agency · X: count − forecast_count · Legend: drp_indicator)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2: Risk Segments. Which employee segments were most likely to leave? Build spec: Cohort toggle (Slicer (tile) or bookmark buttons; cohort (derived from snapshot_yyyymm pairs 202312→202412, 202412→202512)) | Grade × LOS heatmap (Matrix, background conditional formatting (gradient); Rows: grade (banded) · Columns: length_of_service_years (banded) · Values: separations ÷ headcount using count, separation_category, snapshot_yyyymm) | Odds ratio forest plot (Deneb (Vega-Lite), or scatter with error bars on log axis; model_output: term, odds_ratio, ci_low, ci_high, cohort · terms from grade, length_of_service_years, age_bracket, supervisory_status, occupational_category, tenure, veteran) | Model fit (Multi-row card + line chart (calibration); model_metrics: auc, brier, calibration_slope, decile, predicted, observed, cohort) | Note banner (Text box; 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3: Pay &amp; Exit. Did being paid below peers predict leaving? Build spec: Pay residual vs separation rate (Scatter chart, trend line from Analytics pane; X: pay_residual_pct = annualized_adjusted_basic_pay ÷ peer median (occupational_category × grade) − 1 · Y: segment separation rate (count, separation_category) · Size: count · Details: segment key) | Pay residual by occupational category (Box and Whisker (AppSource) or Deneb; Category: occupational_category · Value: pay_residual_pct (record level)) | Regression summary (Multi-row card or table; regression_output: term, coefficient, std_error, r_squared)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4: Agency Archetypes. Which agencies share the same exposure? Build spec: Agency PCA map (Scatter chart; Details: agency · X: pc1 · Y: pc2 · Legend: cluster (precomputed table joined on agency)) | Cluster profiles (×4) (Clustered bar chart with small multiples by cluster; average as reference line; DRP %: drp_indicator, count · Quit % / Retirement %: separation_category, count · Hire-to-exit: count (accessions ÷ separations) · % age 55+: age_bracket, count) | Agency table (Table; agency · cluster · headcount (count at latest snapshot_yyyymm) · separation rate)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5: Refill Gap. Can agencies replace who left? Build spec: Separations vs accessions by occupation group (Stacked bar chart, separations as negative measure; Y: occupation_group (derived from occupation series; not in listed columns) · X: count accessions, −count separations · Legend: drp_indicator) | Hire-to-exit matrix (Matrix, rules-based background (&lt; 1 red); Rows: occupation_group · Columns: agency · Values: count (accessions) ÷ count (separations)) | STEM refill ratio (Card + clustered bar; occupation_group (STEM filter) · count (accessions) · count (separations))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6: Benchmark. Was federal attrition different from the market? Build spec: OPM resignations vs JOLTS quits (Line chart + X-axis constant line + shaded range; field parameter for Rate / Index; X: personnel_action_effective_date_yyyymm · OPM rate: count where separation_category = resignation ÷ headcount at snapshot_yyyymm · JOLTS: external table series_id, period, value) | Divergence annotation (Text box over constant line / shaded range; —) | Definition notes (Text box; 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0075"/>
            <a:ext cx="121920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538"/>
            <a:ext cx="478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57188"/>
            <a:ext cx="478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big was the 2025 shock?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11218" y="166688"/>
            <a:ext cx="673373" cy="266700"/>
          </a:xfrm>
          <a:prstGeom prst="roundRect">
            <a:avLst>
              <a:gd name="adj" fmla="val 21429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6515993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36767" y="233362"/>
            <a:ext cx="4192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27466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48240" y="233362"/>
            <a:ext cx="882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02687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23461" y="233362"/>
            <a:ext cx="622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17534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38308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08580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9354" y="233362"/>
            <a:ext cx="590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91429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12203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76400" cy="659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6875" y="0"/>
            <a:ext cx="9525" cy="6591300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" y="102915"/>
            <a:ext cx="14763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Workforce Shock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3350" y="397148"/>
            <a:ext cx="15401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Leadership · 2018–Jul 2026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3350" y="60960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" y="7524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3350" y="10096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33350" y="11811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075" y="12573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13001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" y="16002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category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3350" y="177165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075" y="184785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189071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" y="21907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33350" y="23622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075" y="24384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24812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" y="27813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33350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75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2018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62013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438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825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350" y="35718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filters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3350" y="550545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" y="561022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3350" y="58054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285750" y="5791200"/>
            <a:ext cx="9535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/ policy shock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33350" y="5986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285750" y="5972175"/>
            <a:ext cx="8624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values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33350" y="616743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5750" y="6153150"/>
            <a:ext cx="4255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33350" y="63484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285750" y="6334125"/>
            <a:ext cx="559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676400" y="6591300"/>
            <a:ext cx="10515600" cy="266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676400" y="6591300"/>
            <a:ext cx="105156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0" y="6672263"/>
            <a:ext cx="8410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OPM Federal Workforce Data (record-level employment snapshots, separations, accessions), Jan 2018 – Jul 2026 · BLS JOLTS quits rates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9626798" y="6672263"/>
            <a:ext cx="2654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31 Jul 2026 · All figures are sample placeholders</a:t>
            </a:r>
            <a:endParaRPr lang="en-US" sz="788" dirty="0"/>
          </a:p>
        </p:txBody>
      </p:sp>
      <p:sp>
        <p:nvSpPr>
          <p:cNvPr id="61" name="Shape 59"/>
          <p:cNvSpPr/>
          <p:nvPr/>
        </p:nvSpPr>
        <p:spPr>
          <a:xfrm>
            <a:off x="1828800" y="762000"/>
            <a:ext cx="24384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962150" y="876300"/>
            <a:ext cx="15490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SEPARATIONS · 12M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3511228" y="876300"/>
            <a:ext cx="622622" cy="247650"/>
          </a:xfrm>
          <a:prstGeom prst="roundRect">
            <a:avLst>
              <a:gd name="adj" fmla="val 11538"/>
            </a:avLst>
          </a:prstGeom>
          <a:solidFill>
            <a:srgbClr val="EE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3568378" y="904875"/>
            <a:ext cx="5845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962150" y="1162050"/>
            <a:ext cx="238887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167.1K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1962150" y="1493490"/>
            <a:ext cx="23888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26% vs prior 12 months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4419600" y="762000"/>
            <a:ext cx="24384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52950" y="914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/>
        </p:spPr>
      </p:sp>
      <p:sp>
        <p:nvSpPr>
          <p:cNvPr id="69" name="Text 67"/>
          <p:cNvSpPr/>
          <p:nvPr/>
        </p:nvSpPr>
        <p:spPr>
          <a:xfrm>
            <a:off x="4705350" y="890588"/>
            <a:ext cx="11601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SEPARATIONS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6075536" y="8763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71" name="Text 69"/>
          <p:cNvSpPr/>
          <p:nvPr/>
        </p:nvSpPr>
        <p:spPr>
          <a:xfrm>
            <a:off x="6132686" y="9048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552950" y="1066800"/>
            <a:ext cx="238887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43.8K</a:t>
            </a:r>
            <a:endParaRPr lang="en-US" sz="2100" dirty="0"/>
          </a:p>
        </p:txBody>
      </p:sp>
      <p:sp>
        <p:nvSpPr>
          <p:cNvPr id="73" name="Text 71"/>
          <p:cNvSpPr/>
          <p:nvPr/>
        </p:nvSpPr>
        <p:spPr>
          <a:xfrm>
            <a:off x="4552950" y="1398240"/>
            <a:ext cx="23888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of 12-month separations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7010400" y="762000"/>
            <a:ext cx="2438326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143750" y="890588"/>
            <a:ext cx="13166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ABOVE FORECAST</a:t>
            </a:r>
            <a:endParaRPr lang="en-US" sz="825" dirty="0"/>
          </a:p>
        </p:txBody>
      </p:sp>
      <p:sp>
        <p:nvSpPr>
          <p:cNvPr id="76" name="Shape 74"/>
          <p:cNvSpPr/>
          <p:nvPr/>
        </p:nvSpPr>
        <p:spPr>
          <a:xfrm>
            <a:off x="8666262" y="8763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77" name="Text 75"/>
          <p:cNvSpPr/>
          <p:nvPr/>
        </p:nvSpPr>
        <p:spPr>
          <a:xfrm>
            <a:off x="8723412" y="9048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143750" y="1066800"/>
            <a:ext cx="238878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</a:t>
            </a:r>
            <a:endParaRPr lang="en-US" sz="2100" dirty="0"/>
          </a:p>
        </p:txBody>
      </p:sp>
      <p:sp>
        <p:nvSpPr>
          <p:cNvPr id="79" name="Text 77"/>
          <p:cNvSpPr/>
          <p:nvPr/>
        </p:nvSpPr>
        <p:spPr>
          <a:xfrm>
            <a:off x="7143750" y="1398240"/>
            <a:ext cx="23887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vs SARIMA forecast, same 12 months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9601126" y="762000"/>
            <a:ext cx="2438474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9734476" y="890588"/>
            <a:ext cx="10082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FLOW · 12M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11257136" y="8763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83" name="Text 81"/>
          <p:cNvSpPr/>
          <p:nvPr/>
        </p:nvSpPr>
        <p:spPr>
          <a:xfrm>
            <a:off x="11314286" y="9048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9734476" y="1066800"/>
            <a:ext cx="238895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−96.9K</a:t>
            </a:r>
            <a:endParaRPr lang="en-US" sz="2100" dirty="0"/>
          </a:p>
        </p:txBody>
      </p:sp>
      <p:sp>
        <p:nvSpPr>
          <p:cNvPr id="85" name="Text 83"/>
          <p:cNvSpPr/>
          <p:nvPr/>
        </p:nvSpPr>
        <p:spPr>
          <a:xfrm>
            <a:off x="9734476" y="1398240"/>
            <a:ext cx="238895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Accessions 70.2K − separations 167.1K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1828800" y="1752600"/>
            <a:ext cx="675635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1962150" y="1881187"/>
            <a:ext cx="32633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SEPARATIONS VS PRE-SHOCK FORECAST</a:t>
            </a:r>
            <a:endParaRPr lang="en-US" sz="825" dirty="0"/>
          </a:p>
        </p:txBody>
      </p:sp>
      <p:sp>
        <p:nvSpPr>
          <p:cNvPr id="88" name="Shape 86"/>
          <p:cNvSpPr/>
          <p:nvPr/>
        </p:nvSpPr>
        <p:spPr>
          <a:xfrm>
            <a:off x="7802687" y="18669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89" name="Text 87"/>
          <p:cNvSpPr/>
          <p:nvPr/>
        </p:nvSpPr>
        <p:spPr>
          <a:xfrm>
            <a:off x="7859837" y="18954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962150" y="2147888"/>
            <a:ext cx="152400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1" name="Text 89"/>
          <p:cNvSpPr/>
          <p:nvPr/>
        </p:nvSpPr>
        <p:spPr>
          <a:xfrm>
            <a:off x="2171700" y="2095500"/>
            <a:ext cx="36745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825" dirty="0"/>
          </a:p>
        </p:txBody>
      </p:sp>
      <p:sp>
        <p:nvSpPr>
          <p:cNvPr id="92" name="Shape 90"/>
          <p:cNvSpPr/>
          <p:nvPr/>
        </p:nvSpPr>
        <p:spPr>
          <a:xfrm>
            <a:off x="2615357" y="2147888"/>
            <a:ext cx="152400" cy="19050"/>
          </a:xfrm>
          <a:prstGeom prst="rect">
            <a:avLst/>
          </a:prstGeom>
          <a:solidFill>
            <a:srgbClr val="7B8490"/>
          </a:solidFill>
          <a:ln/>
        </p:spPr>
      </p:sp>
      <p:sp>
        <p:nvSpPr>
          <p:cNvPr id="93" name="Text 91"/>
          <p:cNvSpPr/>
          <p:nvPr/>
        </p:nvSpPr>
        <p:spPr>
          <a:xfrm>
            <a:off x="2824907" y="2095500"/>
            <a:ext cx="187575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 forecast (trained to Jan-2025)</a:t>
            </a:r>
            <a:endParaRPr lang="en-US" sz="825" dirty="0"/>
          </a:p>
        </p:txBody>
      </p:sp>
      <p:sp>
        <p:nvSpPr>
          <p:cNvPr id="94" name="Shape 92"/>
          <p:cNvSpPr/>
          <p:nvPr/>
        </p:nvSpPr>
        <p:spPr>
          <a:xfrm>
            <a:off x="4776862" y="2109788"/>
            <a:ext cx="114300" cy="95250"/>
          </a:xfrm>
          <a:prstGeom prst="rect">
            <a:avLst/>
          </a:prstGeom>
          <a:solidFill>
            <a:srgbClr val="9AA3AE">
              <a:alpha val="35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4948312" y="2095500"/>
            <a:ext cx="54813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band</a:t>
            </a:r>
            <a:endParaRPr lang="en-US" sz="825" dirty="0"/>
          </a:p>
        </p:txBody>
      </p:sp>
      <p:sp>
        <p:nvSpPr>
          <p:cNvPr id="96" name="Shape 94"/>
          <p:cNvSpPr/>
          <p:nvPr/>
        </p:nvSpPr>
        <p:spPr>
          <a:xfrm>
            <a:off x="5572646" y="2109788"/>
            <a:ext cx="114300" cy="9525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7" name="Text 95"/>
          <p:cNvSpPr/>
          <p:nvPr/>
        </p:nvSpPr>
        <p:spPr>
          <a:xfrm>
            <a:off x="5744096" y="2095500"/>
            <a:ext cx="86632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separations</a:t>
            </a:r>
            <a:endParaRPr lang="en-US" sz="825" dirty="0"/>
          </a:p>
        </p:txBody>
      </p:sp>
      <p:pic>
        <p:nvPicPr>
          <p:cNvPr id="9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2295525"/>
            <a:ext cx="6486525" cy="4029075"/>
          </a:xfrm>
          <a:prstGeom prst="rect">
            <a:avLst/>
          </a:prstGeom>
        </p:spPr>
      </p:pic>
      <p:sp>
        <p:nvSpPr>
          <p:cNvPr id="99" name="Shape 96"/>
          <p:cNvSpPr/>
          <p:nvPr/>
        </p:nvSpPr>
        <p:spPr>
          <a:xfrm>
            <a:off x="8737550" y="1752600"/>
            <a:ext cx="3302050" cy="46863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100" name="Text 97"/>
          <p:cNvSpPr/>
          <p:nvPr/>
        </p:nvSpPr>
        <p:spPr>
          <a:xfrm>
            <a:off x="8870900" y="1866900"/>
            <a:ext cx="2410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AGENCIES · EXCESS SEPARATIONS</a:t>
            </a:r>
            <a:endParaRPr lang="en-US" sz="825" dirty="0"/>
          </a:p>
        </p:txBody>
      </p:sp>
      <p:sp>
        <p:nvSpPr>
          <p:cNvPr id="101" name="Shape 98"/>
          <p:cNvSpPr/>
          <p:nvPr/>
        </p:nvSpPr>
        <p:spPr>
          <a:xfrm>
            <a:off x="11281321" y="1866900"/>
            <a:ext cx="624929" cy="247650"/>
          </a:xfrm>
          <a:prstGeom prst="roundRect">
            <a:avLst>
              <a:gd name="adj" fmla="val 11538"/>
            </a:avLst>
          </a:prstGeom>
          <a:solidFill>
            <a:srgbClr val="EEF0F3"/>
          </a:solidFill>
          <a:ln/>
        </p:spPr>
      </p:sp>
      <p:sp>
        <p:nvSpPr>
          <p:cNvPr id="102" name="Text 99"/>
          <p:cNvSpPr/>
          <p:nvPr/>
        </p:nvSpPr>
        <p:spPr>
          <a:xfrm>
            <a:off x="11338471" y="1895475"/>
            <a:ext cx="5868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8870900" y="2205038"/>
            <a:ext cx="95250" cy="9525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4" name="Text 101"/>
          <p:cNvSpPr/>
          <p:nvPr/>
        </p:nvSpPr>
        <p:spPr>
          <a:xfrm>
            <a:off x="9023300" y="2190750"/>
            <a:ext cx="76921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DRP-attributed</a:t>
            </a:r>
            <a:endParaRPr lang="en-US" sz="825" dirty="0"/>
          </a:p>
        </p:txBody>
      </p:sp>
      <p:sp>
        <p:nvSpPr>
          <p:cNvPr id="105" name="Shape 102"/>
          <p:cNvSpPr/>
          <p:nvPr/>
        </p:nvSpPr>
        <p:spPr>
          <a:xfrm>
            <a:off x="9849669" y="2205038"/>
            <a:ext cx="95250" cy="952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6" name="Text 103"/>
          <p:cNvSpPr/>
          <p:nvPr/>
        </p:nvSpPr>
        <p:spPr>
          <a:xfrm>
            <a:off x="10002069" y="2190750"/>
            <a:ext cx="6934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excess</a:t>
            </a:r>
            <a:endParaRPr lang="en-US" sz="825" dirty="0"/>
          </a:p>
        </p:txBody>
      </p:sp>
      <p:pic>
        <p:nvPicPr>
          <p:cNvPr id="10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900" y="2390775"/>
            <a:ext cx="3028950" cy="3743325"/>
          </a:xfrm>
          <a:prstGeom prst="rect">
            <a:avLst/>
          </a:prstGeom>
        </p:spPr>
      </p:pic>
      <p:sp>
        <p:nvSpPr>
          <p:cNvPr id="108" name="Text 104"/>
          <p:cNvSpPr/>
          <p:nvPr/>
        </p:nvSpPr>
        <p:spPr>
          <a:xfrm>
            <a:off x="8870900" y="6210300"/>
            <a:ext cx="33388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= actual − forecast, last 12 months</a:t>
            </a:r>
            <a:endParaRPr lang="en-US" sz="7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0075"/>
            <a:ext cx="121920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538"/>
            <a:ext cx="478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57188"/>
            <a:ext cx="478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employee segments were most likely to leave?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15993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36767" y="233362"/>
            <a:ext cx="4192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22691" y="166688"/>
            <a:ext cx="1137121" cy="266700"/>
          </a:xfrm>
          <a:prstGeom prst="roundRect">
            <a:avLst>
              <a:gd name="adj" fmla="val 21429"/>
            </a:avLst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227466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48240" y="233362"/>
            <a:ext cx="882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02687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23461" y="233362"/>
            <a:ext cx="622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17534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38308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08580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9354" y="233362"/>
            <a:ext cx="590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91429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12203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76400" cy="659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6875" y="0"/>
            <a:ext cx="9525" cy="6591300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" y="102915"/>
            <a:ext cx="14763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Workforce Shock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3350" y="397148"/>
            <a:ext cx="15401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Leadership · 2018–Jul 2026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3350" y="60960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" y="7524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3350" y="10096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33350" y="11811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075" y="12573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13001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" y="16002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category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3350" y="177165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075" y="184785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189071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" y="21907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33350" y="23622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075" y="24384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24812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" y="27813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33350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75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2018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62013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438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825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350" y="35718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filters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3350" y="550545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" y="561022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3350" y="58054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285750" y="5791200"/>
            <a:ext cx="9535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/ policy shock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33350" y="5986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285750" y="5972175"/>
            <a:ext cx="8624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values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33350" y="616743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5750" y="6153150"/>
            <a:ext cx="4255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33350" y="63484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285750" y="6334125"/>
            <a:ext cx="559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676400" y="6591300"/>
            <a:ext cx="10515600" cy="266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676400" y="6591300"/>
            <a:ext cx="105156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0" y="6672263"/>
            <a:ext cx="8410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OPM Federal Workforce Data (record-level employment snapshots, separations, accessions), Jan 2018 – Jul 2026 · BLS JOLTS quits rates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9626798" y="6672263"/>
            <a:ext cx="2654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31 Jul 2026 · All figures are sample placeholders</a:t>
            </a:r>
            <a:endParaRPr lang="en-US" sz="788" dirty="0"/>
          </a:p>
        </p:txBody>
      </p:sp>
      <p:sp>
        <p:nvSpPr>
          <p:cNvPr id="61" name="Text 59"/>
          <p:cNvSpPr/>
          <p:nvPr/>
        </p:nvSpPr>
        <p:spPr>
          <a:xfrm>
            <a:off x="1828800" y="890588"/>
            <a:ext cx="5679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2415778" y="738188"/>
            <a:ext cx="2714997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539603" y="823913"/>
            <a:ext cx="12481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Dec-23 → Dec-24 (baseline)</a:t>
            </a:r>
            <a:endParaRPr lang="en-US" sz="863" dirty="0"/>
          </a:p>
        </p:txBody>
      </p:sp>
      <p:sp>
        <p:nvSpPr>
          <p:cNvPr id="64" name="Shape 62"/>
          <p:cNvSpPr/>
          <p:nvPr/>
        </p:nvSpPr>
        <p:spPr>
          <a:xfrm>
            <a:off x="3825850" y="766763"/>
            <a:ext cx="1276350" cy="371475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/>
        </p:spPr>
      </p:sp>
      <p:sp>
        <p:nvSpPr>
          <p:cNvPr id="65" name="Text 63"/>
          <p:cNvSpPr/>
          <p:nvPr/>
        </p:nvSpPr>
        <p:spPr>
          <a:xfrm>
            <a:off x="3921100" y="823913"/>
            <a:ext cx="1162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Dec-24 → Dec-25 (shock)</a:t>
            </a:r>
            <a:endParaRPr lang="en-US" sz="863" dirty="0"/>
          </a:p>
        </p:txBody>
      </p:sp>
      <p:sp>
        <p:nvSpPr>
          <p:cNvPr id="66" name="Shape 64"/>
          <p:cNvSpPr/>
          <p:nvPr/>
        </p:nvSpPr>
        <p:spPr>
          <a:xfrm>
            <a:off x="5283175" y="762000"/>
            <a:ext cx="6756350" cy="381000"/>
          </a:xfrm>
          <a:prstGeom prst="roundRect">
            <a:avLst>
              <a:gd name="adj" fmla="val 20000"/>
            </a:avLst>
          </a:prstGeom>
          <a:solidFill>
            <a:srgbClr val="EAF0F7"/>
          </a:solidFill>
          <a:ln/>
        </p:spPr>
      </p:sp>
      <p:sp>
        <p:nvSpPr>
          <p:cNvPr id="67" name="Shape 65"/>
          <p:cNvSpPr/>
          <p:nvPr/>
        </p:nvSpPr>
        <p:spPr>
          <a:xfrm>
            <a:off x="5416525" y="876300"/>
            <a:ext cx="152400" cy="152400"/>
          </a:xfrm>
          <a:prstGeom prst="ellipse">
            <a:avLst/>
          </a:prstGeom>
          <a:ln w="14288">
            <a:solidFill>
              <a:srgbClr val="1F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92713" y="890588"/>
            <a:ext cx="2000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664175" y="819150"/>
            <a:ext cx="2431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Segment-level model — not individual prediction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14556" y="819150"/>
            <a:ext cx="39053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describe grouped cells and should not be applied to named employees.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828800" y="1295400"/>
            <a:ext cx="4165550" cy="5143500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962150" y="1423988"/>
            <a:ext cx="33688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SEPARATION PROBABILITY · GRADE × LOS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5211887" y="14097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74" name="Text 72"/>
          <p:cNvSpPr/>
          <p:nvPr/>
        </p:nvSpPr>
        <p:spPr>
          <a:xfrm>
            <a:off x="5269037" y="14382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962150" y="1638300"/>
            <a:ext cx="42887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 · employed Dec-24, separated by Dec-25 (shock)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2543175" y="1838325"/>
            <a:ext cx="52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</a:t>
            </a:r>
            <a:endParaRPr lang="en-US" sz="788" dirty="0"/>
          </a:p>
        </p:txBody>
      </p:sp>
      <p:sp>
        <p:nvSpPr>
          <p:cNvPr id="77" name="Text 75"/>
          <p:cNvSpPr/>
          <p:nvPr/>
        </p:nvSpPr>
        <p:spPr>
          <a:xfrm>
            <a:off x="3015779" y="1838325"/>
            <a:ext cx="52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</a:t>
            </a:r>
            <a:endParaRPr lang="en-US" sz="788" dirty="0"/>
          </a:p>
        </p:txBody>
      </p:sp>
      <p:sp>
        <p:nvSpPr>
          <p:cNvPr id="78" name="Text 76"/>
          <p:cNvSpPr/>
          <p:nvPr/>
        </p:nvSpPr>
        <p:spPr>
          <a:xfrm>
            <a:off x="3488382" y="1838325"/>
            <a:ext cx="52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5–9</a:t>
            </a:r>
            <a:endParaRPr lang="en-US" sz="788" dirty="0"/>
          </a:p>
        </p:txBody>
      </p:sp>
      <p:sp>
        <p:nvSpPr>
          <p:cNvPr id="79" name="Text 77"/>
          <p:cNvSpPr/>
          <p:nvPr/>
        </p:nvSpPr>
        <p:spPr>
          <a:xfrm>
            <a:off x="3960986" y="1838325"/>
            <a:ext cx="52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10–14</a:t>
            </a:r>
            <a:endParaRPr lang="en-US" sz="788" dirty="0"/>
          </a:p>
        </p:txBody>
      </p:sp>
      <p:sp>
        <p:nvSpPr>
          <p:cNvPr id="80" name="Text 78"/>
          <p:cNvSpPr/>
          <p:nvPr/>
        </p:nvSpPr>
        <p:spPr>
          <a:xfrm>
            <a:off x="4433590" y="1838325"/>
            <a:ext cx="52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15–19</a:t>
            </a:r>
            <a:endParaRPr lang="en-US" sz="788" dirty="0"/>
          </a:p>
        </p:txBody>
      </p:sp>
      <p:sp>
        <p:nvSpPr>
          <p:cNvPr id="81" name="Text 79"/>
          <p:cNvSpPr/>
          <p:nvPr/>
        </p:nvSpPr>
        <p:spPr>
          <a:xfrm>
            <a:off x="4906194" y="1838325"/>
            <a:ext cx="52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</a:t>
            </a:r>
            <a:endParaRPr lang="en-US" sz="788" dirty="0"/>
          </a:p>
        </p:txBody>
      </p:sp>
      <p:sp>
        <p:nvSpPr>
          <p:cNvPr id="82" name="Text 80"/>
          <p:cNvSpPr/>
          <p:nvPr/>
        </p:nvSpPr>
        <p:spPr>
          <a:xfrm>
            <a:off x="5378797" y="1838325"/>
            <a:ext cx="52030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788" dirty="0"/>
          </a:p>
        </p:txBody>
      </p:sp>
      <p:sp>
        <p:nvSpPr>
          <p:cNvPr id="83" name="Text 81"/>
          <p:cNvSpPr/>
          <p:nvPr/>
        </p:nvSpPr>
        <p:spPr>
          <a:xfrm>
            <a:off x="1962150" y="2297088"/>
            <a:ext cx="43152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 1–6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2581275" y="2028825"/>
            <a:ext cx="444029" cy="660350"/>
          </a:xfrm>
          <a:prstGeom prst="roundRect">
            <a:avLst>
              <a:gd name="adj" fmla="val 6435"/>
            </a:avLst>
          </a:prstGeom>
          <a:solidFill>
            <a:srgbClr val="8F9EB1"/>
          </a:solidFill>
          <a:ln/>
        </p:spPr>
      </p:sp>
      <p:sp>
        <p:nvSpPr>
          <p:cNvPr id="85" name="Text 83"/>
          <p:cNvSpPr/>
          <p:nvPr/>
        </p:nvSpPr>
        <p:spPr>
          <a:xfrm>
            <a:off x="2654722" y="229708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3053879" y="2028825"/>
            <a:ext cx="444029" cy="660350"/>
          </a:xfrm>
          <a:prstGeom prst="roundRect">
            <a:avLst>
              <a:gd name="adj" fmla="val 6435"/>
            </a:avLst>
          </a:prstGeom>
          <a:solidFill>
            <a:srgbClr val="95A3B5"/>
          </a:solidFill>
          <a:ln/>
        </p:spPr>
      </p:sp>
      <p:sp>
        <p:nvSpPr>
          <p:cNvPr id="87" name="Text 85"/>
          <p:cNvSpPr/>
          <p:nvPr/>
        </p:nvSpPr>
        <p:spPr>
          <a:xfrm>
            <a:off x="3127325" y="229708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825" dirty="0"/>
          </a:p>
        </p:txBody>
      </p:sp>
      <p:sp>
        <p:nvSpPr>
          <p:cNvPr id="88" name="Shape 86"/>
          <p:cNvSpPr/>
          <p:nvPr/>
        </p:nvSpPr>
        <p:spPr>
          <a:xfrm>
            <a:off x="3526482" y="2028825"/>
            <a:ext cx="444029" cy="660350"/>
          </a:xfrm>
          <a:prstGeom prst="roundRect">
            <a:avLst>
              <a:gd name="adj" fmla="val 6435"/>
            </a:avLst>
          </a:prstGeom>
          <a:solidFill>
            <a:srgbClr val="9AA7B9"/>
          </a:solidFill>
          <a:ln/>
        </p:spPr>
      </p:sp>
      <p:sp>
        <p:nvSpPr>
          <p:cNvPr id="89" name="Text 87"/>
          <p:cNvSpPr/>
          <p:nvPr/>
        </p:nvSpPr>
        <p:spPr>
          <a:xfrm>
            <a:off x="3599929" y="229708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825" dirty="0"/>
          </a:p>
        </p:txBody>
      </p:sp>
      <p:sp>
        <p:nvSpPr>
          <p:cNvPr id="90" name="Shape 88"/>
          <p:cNvSpPr/>
          <p:nvPr/>
        </p:nvSpPr>
        <p:spPr>
          <a:xfrm>
            <a:off x="3999086" y="2028825"/>
            <a:ext cx="444029" cy="660350"/>
          </a:xfrm>
          <a:prstGeom prst="roundRect">
            <a:avLst>
              <a:gd name="adj" fmla="val 6435"/>
            </a:avLst>
          </a:prstGeom>
          <a:solidFill>
            <a:srgbClr val="ADB8C7"/>
          </a:solidFill>
          <a:ln/>
        </p:spPr>
      </p:sp>
      <p:sp>
        <p:nvSpPr>
          <p:cNvPr id="91" name="Text 89"/>
          <p:cNvSpPr/>
          <p:nvPr/>
        </p:nvSpPr>
        <p:spPr>
          <a:xfrm>
            <a:off x="4101629" y="2297088"/>
            <a:ext cx="3150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825" dirty="0"/>
          </a:p>
        </p:txBody>
      </p:sp>
      <p:sp>
        <p:nvSpPr>
          <p:cNvPr id="92" name="Shape 90"/>
          <p:cNvSpPr/>
          <p:nvPr/>
        </p:nvSpPr>
        <p:spPr>
          <a:xfrm>
            <a:off x="4471690" y="2028825"/>
            <a:ext cx="444029" cy="660350"/>
          </a:xfrm>
          <a:prstGeom prst="roundRect">
            <a:avLst>
              <a:gd name="adj" fmla="val 6435"/>
            </a:avLst>
          </a:prstGeom>
          <a:solidFill>
            <a:srgbClr val="96A4B6"/>
          </a:solidFill>
          <a:ln/>
        </p:spPr>
      </p:sp>
      <p:sp>
        <p:nvSpPr>
          <p:cNvPr id="93" name="Text 91"/>
          <p:cNvSpPr/>
          <p:nvPr/>
        </p:nvSpPr>
        <p:spPr>
          <a:xfrm>
            <a:off x="4545137" y="229708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825" dirty="0"/>
          </a:p>
        </p:txBody>
      </p:sp>
      <p:sp>
        <p:nvSpPr>
          <p:cNvPr id="94" name="Shape 92"/>
          <p:cNvSpPr/>
          <p:nvPr/>
        </p:nvSpPr>
        <p:spPr>
          <a:xfrm>
            <a:off x="4944294" y="2028825"/>
            <a:ext cx="444029" cy="660350"/>
          </a:xfrm>
          <a:prstGeom prst="roundRect">
            <a:avLst>
              <a:gd name="adj" fmla="val 6435"/>
            </a:avLst>
          </a:prstGeom>
          <a:solidFill>
            <a:srgbClr val="8191A7"/>
          </a:solidFill>
          <a:ln/>
        </p:spPr>
      </p:sp>
      <p:sp>
        <p:nvSpPr>
          <p:cNvPr id="95" name="Text 93"/>
          <p:cNvSpPr/>
          <p:nvPr/>
        </p:nvSpPr>
        <p:spPr>
          <a:xfrm>
            <a:off x="5017740" y="229708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825" dirty="0"/>
          </a:p>
        </p:txBody>
      </p:sp>
      <p:sp>
        <p:nvSpPr>
          <p:cNvPr id="96" name="Shape 94"/>
          <p:cNvSpPr/>
          <p:nvPr/>
        </p:nvSpPr>
        <p:spPr>
          <a:xfrm>
            <a:off x="5416897" y="2028825"/>
            <a:ext cx="444103" cy="660350"/>
          </a:xfrm>
          <a:prstGeom prst="roundRect">
            <a:avLst>
              <a:gd name="adj" fmla="val 6434"/>
            </a:avLst>
          </a:prstGeom>
          <a:solidFill>
            <a:srgbClr val="546986"/>
          </a:solidFill>
          <a:ln/>
        </p:spPr>
      </p:sp>
      <p:sp>
        <p:nvSpPr>
          <p:cNvPr id="97" name="Text 95"/>
          <p:cNvSpPr/>
          <p:nvPr/>
        </p:nvSpPr>
        <p:spPr>
          <a:xfrm>
            <a:off x="5490344" y="229708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1962150" y="2986013"/>
            <a:ext cx="43152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 7–9</a:t>
            </a:r>
            <a:endParaRPr lang="en-US" sz="825" dirty="0"/>
          </a:p>
        </p:txBody>
      </p:sp>
      <p:sp>
        <p:nvSpPr>
          <p:cNvPr id="99" name="Shape 97"/>
          <p:cNvSpPr/>
          <p:nvPr/>
        </p:nvSpPr>
        <p:spPr>
          <a:xfrm>
            <a:off x="2581275" y="2717750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3A1B4"/>
          </a:solidFill>
          <a:ln/>
        </p:spPr>
      </p:sp>
      <p:sp>
        <p:nvSpPr>
          <p:cNvPr id="100" name="Text 98"/>
          <p:cNvSpPr/>
          <p:nvPr/>
        </p:nvSpPr>
        <p:spPr>
          <a:xfrm>
            <a:off x="2654722" y="2986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825" dirty="0"/>
          </a:p>
        </p:txBody>
      </p:sp>
      <p:sp>
        <p:nvSpPr>
          <p:cNvPr id="101" name="Shape 99"/>
          <p:cNvSpPr/>
          <p:nvPr/>
        </p:nvSpPr>
        <p:spPr>
          <a:xfrm>
            <a:off x="3053879" y="2717750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DAABC"/>
          </a:solidFill>
          <a:ln/>
        </p:spPr>
      </p:sp>
      <p:sp>
        <p:nvSpPr>
          <p:cNvPr id="102" name="Text 100"/>
          <p:cNvSpPr/>
          <p:nvPr/>
        </p:nvSpPr>
        <p:spPr>
          <a:xfrm>
            <a:off x="3130228" y="2986013"/>
            <a:ext cx="3675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825" dirty="0"/>
          </a:p>
        </p:txBody>
      </p:sp>
      <p:sp>
        <p:nvSpPr>
          <p:cNvPr id="103" name="Shape 101"/>
          <p:cNvSpPr/>
          <p:nvPr/>
        </p:nvSpPr>
        <p:spPr>
          <a:xfrm>
            <a:off x="3526482" y="2717750"/>
            <a:ext cx="444029" cy="660425"/>
          </a:xfrm>
          <a:prstGeom prst="roundRect">
            <a:avLst>
              <a:gd name="adj" fmla="val 6435"/>
            </a:avLst>
          </a:prstGeom>
          <a:solidFill>
            <a:srgbClr val="A4B0C1"/>
          </a:solidFill>
          <a:ln/>
        </p:spPr>
      </p:sp>
      <p:sp>
        <p:nvSpPr>
          <p:cNvPr id="104" name="Text 102"/>
          <p:cNvSpPr/>
          <p:nvPr/>
        </p:nvSpPr>
        <p:spPr>
          <a:xfrm>
            <a:off x="3599929" y="2986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825" dirty="0"/>
          </a:p>
        </p:txBody>
      </p:sp>
      <p:sp>
        <p:nvSpPr>
          <p:cNvPr id="105" name="Shape 103"/>
          <p:cNvSpPr/>
          <p:nvPr/>
        </p:nvSpPr>
        <p:spPr>
          <a:xfrm>
            <a:off x="3999086" y="2717750"/>
            <a:ext cx="444029" cy="660425"/>
          </a:xfrm>
          <a:prstGeom prst="roundRect">
            <a:avLst>
              <a:gd name="adj" fmla="val 6435"/>
            </a:avLst>
          </a:prstGeom>
          <a:solidFill>
            <a:srgbClr val="A6B2C2"/>
          </a:solidFill>
          <a:ln/>
        </p:spPr>
      </p:sp>
      <p:sp>
        <p:nvSpPr>
          <p:cNvPr id="106" name="Text 104"/>
          <p:cNvSpPr/>
          <p:nvPr/>
        </p:nvSpPr>
        <p:spPr>
          <a:xfrm>
            <a:off x="4072533" y="2986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4471690" y="2717750"/>
            <a:ext cx="444029" cy="660425"/>
          </a:xfrm>
          <a:prstGeom prst="roundRect">
            <a:avLst>
              <a:gd name="adj" fmla="val 6435"/>
            </a:avLst>
          </a:prstGeom>
          <a:solidFill>
            <a:srgbClr val="A8B4C3"/>
          </a:solidFill>
          <a:ln/>
        </p:spPr>
      </p:sp>
      <p:sp>
        <p:nvSpPr>
          <p:cNvPr id="108" name="Text 106"/>
          <p:cNvSpPr/>
          <p:nvPr/>
        </p:nvSpPr>
        <p:spPr>
          <a:xfrm>
            <a:off x="4545137" y="2986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4944294" y="2717750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796AB"/>
          </a:solidFill>
          <a:ln/>
        </p:spPr>
      </p:sp>
      <p:sp>
        <p:nvSpPr>
          <p:cNvPr id="110" name="Text 108"/>
          <p:cNvSpPr/>
          <p:nvPr/>
        </p:nvSpPr>
        <p:spPr>
          <a:xfrm>
            <a:off x="5017740" y="2986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5416897" y="2717750"/>
            <a:ext cx="444103" cy="660425"/>
          </a:xfrm>
          <a:prstGeom prst="roundRect">
            <a:avLst>
              <a:gd name="adj" fmla="val 6434"/>
            </a:avLst>
          </a:prstGeom>
          <a:solidFill>
            <a:srgbClr val="556A87"/>
          </a:solidFill>
          <a:ln/>
        </p:spPr>
      </p:sp>
      <p:sp>
        <p:nvSpPr>
          <p:cNvPr id="112" name="Text 110"/>
          <p:cNvSpPr/>
          <p:nvPr/>
        </p:nvSpPr>
        <p:spPr>
          <a:xfrm>
            <a:off x="5490344" y="2986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825" dirty="0"/>
          </a:p>
        </p:txBody>
      </p:sp>
      <p:sp>
        <p:nvSpPr>
          <p:cNvPr id="113" name="Text 111"/>
          <p:cNvSpPr/>
          <p:nvPr/>
        </p:nvSpPr>
        <p:spPr>
          <a:xfrm>
            <a:off x="1962150" y="3675013"/>
            <a:ext cx="5480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 10–12</a:t>
            </a:r>
            <a:endParaRPr lang="en-US" sz="825" dirty="0"/>
          </a:p>
        </p:txBody>
      </p:sp>
      <p:sp>
        <p:nvSpPr>
          <p:cNvPr id="114" name="Shape 112"/>
          <p:cNvSpPr/>
          <p:nvPr/>
        </p:nvSpPr>
        <p:spPr>
          <a:xfrm>
            <a:off x="2581275" y="3406750"/>
            <a:ext cx="444029" cy="660350"/>
          </a:xfrm>
          <a:prstGeom prst="roundRect">
            <a:avLst>
              <a:gd name="adj" fmla="val 6435"/>
            </a:avLst>
          </a:prstGeom>
          <a:solidFill>
            <a:srgbClr val="8C9BAF"/>
          </a:solidFill>
          <a:ln/>
        </p:spPr>
      </p:sp>
      <p:sp>
        <p:nvSpPr>
          <p:cNvPr id="115" name="Text 113"/>
          <p:cNvSpPr/>
          <p:nvPr/>
        </p:nvSpPr>
        <p:spPr>
          <a:xfrm>
            <a:off x="2654722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825" dirty="0"/>
          </a:p>
        </p:txBody>
      </p:sp>
      <p:sp>
        <p:nvSpPr>
          <p:cNvPr id="116" name="Shape 114"/>
          <p:cNvSpPr/>
          <p:nvPr/>
        </p:nvSpPr>
        <p:spPr>
          <a:xfrm>
            <a:off x="3053879" y="3406750"/>
            <a:ext cx="444029" cy="660350"/>
          </a:xfrm>
          <a:prstGeom prst="roundRect">
            <a:avLst>
              <a:gd name="adj" fmla="val 6435"/>
            </a:avLst>
          </a:prstGeom>
          <a:solidFill>
            <a:srgbClr val="A8B4C4"/>
          </a:solidFill>
          <a:ln/>
        </p:spPr>
      </p:sp>
      <p:sp>
        <p:nvSpPr>
          <p:cNvPr id="117" name="Text 115"/>
          <p:cNvSpPr/>
          <p:nvPr/>
        </p:nvSpPr>
        <p:spPr>
          <a:xfrm>
            <a:off x="3127325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825" dirty="0"/>
          </a:p>
        </p:txBody>
      </p:sp>
      <p:sp>
        <p:nvSpPr>
          <p:cNvPr id="118" name="Shape 116"/>
          <p:cNvSpPr/>
          <p:nvPr/>
        </p:nvSpPr>
        <p:spPr>
          <a:xfrm>
            <a:off x="3526482" y="3406750"/>
            <a:ext cx="444029" cy="660350"/>
          </a:xfrm>
          <a:prstGeom prst="roundRect">
            <a:avLst>
              <a:gd name="adj" fmla="val 6435"/>
            </a:avLst>
          </a:prstGeom>
          <a:solidFill>
            <a:srgbClr val="A4B0C1"/>
          </a:solidFill>
          <a:ln/>
        </p:spPr>
      </p:sp>
      <p:sp>
        <p:nvSpPr>
          <p:cNvPr id="119" name="Text 117"/>
          <p:cNvSpPr/>
          <p:nvPr/>
        </p:nvSpPr>
        <p:spPr>
          <a:xfrm>
            <a:off x="3599929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825" dirty="0"/>
          </a:p>
        </p:txBody>
      </p:sp>
      <p:sp>
        <p:nvSpPr>
          <p:cNvPr id="120" name="Shape 118"/>
          <p:cNvSpPr/>
          <p:nvPr/>
        </p:nvSpPr>
        <p:spPr>
          <a:xfrm>
            <a:off x="3999086" y="3406750"/>
            <a:ext cx="444029" cy="660350"/>
          </a:xfrm>
          <a:prstGeom prst="roundRect">
            <a:avLst>
              <a:gd name="adj" fmla="val 6435"/>
            </a:avLst>
          </a:prstGeom>
          <a:solidFill>
            <a:srgbClr val="A5B1C1"/>
          </a:solidFill>
          <a:ln/>
        </p:spPr>
      </p:sp>
      <p:sp>
        <p:nvSpPr>
          <p:cNvPr id="121" name="Text 119"/>
          <p:cNvSpPr/>
          <p:nvPr/>
        </p:nvSpPr>
        <p:spPr>
          <a:xfrm>
            <a:off x="4072533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825" dirty="0"/>
          </a:p>
        </p:txBody>
      </p:sp>
      <p:sp>
        <p:nvSpPr>
          <p:cNvPr id="122" name="Shape 120"/>
          <p:cNvSpPr/>
          <p:nvPr/>
        </p:nvSpPr>
        <p:spPr>
          <a:xfrm>
            <a:off x="4471690" y="3406750"/>
            <a:ext cx="444029" cy="660350"/>
          </a:xfrm>
          <a:prstGeom prst="roundRect">
            <a:avLst>
              <a:gd name="adj" fmla="val 6435"/>
            </a:avLst>
          </a:prstGeom>
          <a:solidFill>
            <a:srgbClr val="A8B3C3"/>
          </a:solidFill>
          <a:ln/>
        </p:spPr>
      </p:sp>
      <p:sp>
        <p:nvSpPr>
          <p:cNvPr id="123" name="Text 121"/>
          <p:cNvSpPr/>
          <p:nvPr/>
        </p:nvSpPr>
        <p:spPr>
          <a:xfrm>
            <a:off x="4545137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825" dirty="0"/>
          </a:p>
        </p:txBody>
      </p:sp>
      <p:sp>
        <p:nvSpPr>
          <p:cNvPr id="124" name="Shape 122"/>
          <p:cNvSpPr/>
          <p:nvPr/>
        </p:nvSpPr>
        <p:spPr>
          <a:xfrm>
            <a:off x="4944294" y="3406750"/>
            <a:ext cx="444029" cy="660350"/>
          </a:xfrm>
          <a:prstGeom prst="roundRect">
            <a:avLst>
              <a:gd name="adj" fmla="val 6435"/>
            </a:avLst>
          </a:prstGeom>
          <a:solidFill>
            <a:srgbClr val="8B9AAE"/>
          </a:solidFill>
          <a:ln/>
        </p:spPr>
      </p:sp>
      <p:sp>
        <p:nvSpPr>
          <p:cNvPr id="125" name="Text 123"/>
          <p:cNvSpPr/>
          <p:nvPr/>
        </p:nvSpPr>
        <p:spPr>
          <a:xfrm>
            <a:off x="5017740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825" dirty="0"/>
          </a:p>
        </p:txBody>
      </p:sp>
      <p:sp>
        <p:nvSpPr>
          <p:cNvPr id="126" name="Shape 124"/>
          <p:cNvSpPr/>
          <p:nvPr/>
        </p:nvSpPr>
        <p:spPr>
          <a:xfrm>
            <a:off x="5416897" y="3406750"/>
            <a:ext cx="444103" cy="660350"/>
          </a:xfrm>
          <a:prstGeom prst="roundRect">
            <a:avLst>
              <a:gd name="adj" fmla="val 6434"/>
            </a:avLst>
          </a:prstGeom>
          <a:solidFill>
            <a:srgbClr val="596D89"/>
          </a:solidFill>
          <a:ln/>
        </p:spPr>
      </p:sp>
      <p:sp>
        <p:nvSpPr>
          <p:cNvPr id="127" name="Text 125"/>
          <p:cNvSpPr/>
          <p:nvPr/>
        </p:nvSpPr>
        <p:spPr>
          <a:xfrm>
            <a:off x="5490344" y="3675013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825" dirty="0"/>
          </a:p>
        </p:txBody>
      </p:sp>
      <p:sp>
        <p:nvSpPr>
          <p:cNvPr id="128" name="Text 126"/>
          <p:cNvSpPr/>
          <p:nvPr/>
        </p:nvSpPr>
        <p:spPr>
          <a:xfrm>
            <a:off x="1962150" y="4363938"/>
            <a:ext cx="5480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 13–14</a:t>
            </a:r>
            <a:endParaRPr lang="en-US" sz="825" dirty="0"/>
          </a:p>
        </p:txBody>
      </p:sp>
      <p:sp>
        <p:nvSpPr>
          <p:cNvPr id="129" name="Shape 127"/>
          <p:cNvSpPr/>
          <p:nvPr/>
        </p:nvSpPr>
        <p:spPr>
          <a:xfrm>
            <a:off x="2581275" y="4095676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F9EB1"/>
          </a:solidFill>
          <a:ln/>
        </p:spPr>
      </p:sp>
      <p:sp>
        <p:nvSpPr>
          <p:cNvPr id="130" name="Text 128"/>
          <p:cNvSpPr/>
          <p:nvPr/>
        </p:nvSpPr>
        <p:spPr>
          <a:xfrm>
            <a:off x="2654722" y="4363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825" dirty="0"/>
          </a:p>
        </p:txBody>
      </p:sp>
      <p:sp>
        <p:nvSpPr>
          <p:cNvPr id="131" name="Shape 129"/>
          <p:cNvSpPr/>
          <p:nvPr/>
        </p:nvSpPr>
        <p:spPr>
          <a:xfrm>
            <a:off x="3053879" y="4095676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AA7B9"/>
          </a:solidFill>
          <a:ln/>
        </p:spPr>
      </p:sp>
      <p:sp>
        <p:nvSpPr>
          <p:cNvPr id="132" name="Text 130"/>
          <p:cNvSpPr/>
          <p:nvPr/>
        </p:nvSpPr>
        <p:spPr>
          <a:xfrm>
            <a:off x="3127325" y="4363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825" dirty="0"/>
          </a:p>
        </p:txBody>
      </p:sp>
      <p:sp>
        <p:nvSpPr>
          <p:cNvPr id="133" name="Shape 131"/>
          <p:cNvSpPr/>
          <p:nvPr/>
        </p:nvSpPr>
        <p:spPr>
          <a:xfrm>
            <a:off x="3526482" y="4095676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9A6B8"/>
          </a:solidFill>
          <a:ln/>
        </p:spPr>
      </p:sp>
      <p:sp>
        <p:nvSpPr>
          <p:cNvPr id="134" name="Text 132"/>
          <p:cNvSpPr/>
          <p:nvPr/>
        </p:nvSpPr>
        <p:spPr>
          <a:xfrm>
            <a:off x="3599929" y="4363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825" dirty="0"/>
          </a:p>
        </p:txBody>
      </p:sp>
      <p:sp>
        <p:nvSpPr>
          <p:cNvPr id="135" name="Shape 133"/>
          <p:cNvSpPr/>
          <p:nvPr/>
        </p:nvSpPr>
        <p:spPr>
          <a:xfrm>
            <a:off x="3999086" y="4095676"/>
            <a:ext cx="444029" cy="660425"/>
          </a:xfrm>
          <a:prstGeom prst="roundRect">
            <a:avLst>
              <a:gd name="adj" fmla="val 6435"/>
            </a:avLst>
          </a:prstGeom>
          <a:solidFill>
            <a:srgbClr val="A2AEBF"/>
          </a:solidFill>
          <a:ln/>
        </p:spPr>
      </p:sp>
      <p:sp>
        <p:nvSpPr>
          <p:cNvPr id="136" name="Text 134"/>
          <p:cNvSpPr/>
          <p:nvPr/>
        </p:nvSpPr>
        <p:spPr>
          <a:xfrm>
            <a:off x="4075435" y="4363938"/>
            <a:ext cx="3675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825" dirty="0"/>
          </a:p>
        </p:txBody>
      </p:sp>
      <p:sp>
        <p:nvSpPr>
          <p:cNvPr id="137" name="Shape 135"/>
          <p:cNvSpPr/>
          <p:nvPr/>
        </p:nvSpPr>
        <p:spPr>
          <a:xfrm>
            <a:off x="4471690" y="4095676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BA8BA"/>
          </a:solidFill>
          <a:ln/>
        </p:spPr>
      </p:sp>
      <p:sp>
        <p:nvSpPr>
          <p:cNvPr id="138" name="Text 136"/>
          <p:cNvSpPr/>
          <p:nvPr/>
        </p:nvSpPr>
        <p:spPr>
          <a:xfrm>
            <a:off x="4545137" y="4363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825" dirty="0"/>
          </a:p>
        </p:txBody>
      </p:sp>
      <p:sp>
        <p:nvSpPr>
          <p:cNvPr id="139" name="Shape 137"/>
          <p:cNvSpPr/>
          <p:nvPr/>
        </p:nvSpPr>
        <p:spPr>
          <a:xfrm>
            <a:off x="4944294" y="4095676"/>
            <a:ext cx="444029" cy="660425"/>
          </a:xfrm>
          <a:prstGeom prst="roundRect">
            <a:avLst>
              <a:gd name="adj" fmla="val 6435"/>
            </a:avLst>
          </a:prstGeom>
          <a:solidFill>
            <a:srgbClr val="7C8DA4"/>
          </a:solidFill>
          <a:ln/>
        </p:spPr>
      </p:sp>
      <p:sp>
        <p:nvSpPr>
          <p:cNvPr id="140" name="Text 138"/>
          <p:cNvSpPr/>
          <p:nvPr/>
        </p:nvSpPr>
        <p:spPr>
          <a:xfrm>
            <a:off x="5017740" y="4363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825" dirty="0"/>
          </a:p>
        </p:txBody>
      </p:sp>
      <p:sp>
        <p:nvSpPr>
          <p:cNvPr id="141" name="Shape 139"/>
          <p:cNvSpPr/>
          <p:nvPr/>
        </p:nvSpPr>
        <p:spPr>
          <a:xfrm>
            <a:off x="5416897" y="4095676"/>
            <a:ext cx="444103" cy="660425"/>
          </a:xfrm>
          <a:prstGeom prst="roundRect">
            <a:avLst>
              <a:gd name="adj" fmla="val 6434"/>
            </a:avLst>
          </a:prstGeom>
          <a:solidFill>
            <a:srgbClr val="4E6482"/>
          </a:solidFill>
          <a:ln/>
        </p:spPr>
      </p:sp>
      <p:sp>
        <p:nvSpPr>
          <p:cNvPr id="142" name="Text 140"/>
          <p:cNvSpPr/>
          <p:nvPr/>
        </p:nvSpPr>
        <p:spPr>
          <a:xfrm>
            <a:off x="5490344" y="4363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825" dirty="0"/>
          </a:p>
        </p:txBody>
      </p:sp>
      <p:sp>
        <p:nvSpPr>
          <p:cNvPr id="143" name="Text 141"/>
          <p:cNvSpPr/>
          <p:nvPr/>
        </p:nvSpPr>
        <p:spPr>
          <a:xfrm>
            <a:off x="1962150" y="5052938"/>
            <a:ext cx="3732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 15</a:t>
            </a:r>
            <a:endParaRPr lang="en-US" sz="825" dirty="0"/>
          </a:p>
        </p:txBody>
      </p:sp>
      <p:sp>
        <p:nvSpPr>
          <p:cNvPr id="144" name="Shape 142"/>
          <p:cNvSpPr/>
          <p:nvPr/>
        </p:nvSpPr>
        <p:spPr>
          <a:xfrm>
            <a:off x="2581275" y="4784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F9DB1"/>
          </a:solidFill>
          <a:ln/>
        </p:spPr>
      </p:sp>
      <p:sp>
        <p:nvSpPr>
          <p:cNvPr id="145" name="Text 143"/>
          <p:cNvSpPr/>
          <p:nvPr/>
        </p:nvSpPr>
        <p:spPr>
          <a:xfrm>
            <a:off x="2654722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825" dirty="0"/>
          </a:p>
        </p:txBody>
      </p:sp>
      <p:sp>
        <p:nvSpPr>
          <p:cNvPr id="146" name="Shape 144"/>
          <p:cNvSpPr/>
          <p:nvPr/>
        </p:nvSpPr>
        <p:spPr>
          <a:xfrm>
            <a:off x="3053879" y="4784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9A6B8"/>
          </a:solidFill>
          <a:ln/>
        </p:spPr>
      </p:sp>
      <p:sp>
        <p:nvSpPr>
          <p:cNvPr id="147" name="Text 145"/>
          <p:cNvSpPr/>
          <p:nvPr/>
        </p:nvSpPr>
        <p:spPr>
          <a:xfrm>
            <a:off x="3127325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825" dirty="0"/>
          </a:p>
        </p:txBody>
      </p:sp>
      <p:sp>
        <p:nvSpPr>
          <p:cNvPr id="148" name="Shape 146"/>
          <p:cNvSpPr/>
          <p:nvPr/>
        </p:nvSpPr>
        <p:spPr>
          <a:xfrm>
            <a:off x="3526482" y="4784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6A4B7"/>
          </a:solidFill>
          <a:ln/>
        </p:spPr>
      </p:sp>
      <p:sp>
        <p:nvSpPr>
          <p:cNvPr id="149" name="Text 147"/>
          <p:cNvSpPr/>
          <p:nvPr/>
        </p:nvSpPr>
        <p:spPr>
          <a:xfrm>
            <a:off x="3599929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825" dirty="0"/>
          </a:p>
        </p:txBody>
      </p:sp>
      <p:sp>
        <p:nvSpPr>
          <p:cNvPr id="150" name="Shape 148"/>
          <p:cNvSpPr/>
          <p:nvPr/>
        </p:nvSpPr>
        <p:spPr>
          <a:xfrm>
            <a:off x="3999086" y="4784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6A4B7"/>
          </a:solidFill>
          <a:ln/>
        </p:spPr>
      </p:sp>
      <p:sp>
        <p:nvSpPr>
          <p:cNvPr id="151" name="Text 149"/>
          <p:cNvSpPr/>
          <p:nvPr/>
        </p:nvSpPr>
        <p:spPr>
          <a:xfrm>
            <a:off x="4072533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825" dirty="0"/>
          </a:p>
        </p:txBody>
      </p:sp>
      <p:sp>
        <p:nvSpPr>
          <p:cNvPr id="152" name="Shape 150"/>
          <p:cNvSpPr/>
          <p:nvPr/>
        </p:nvSpPr>
        <p:spPr>
          <a:xfrm>
            <a:off x="4471690" y="4784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897AC"/>
          </a:solidFill>
          <a:ln/>
        </p:spPr>
      </p:sp>
      <p:sp>
        <p:nvSpPr>
          <p:cNvPr id="153" name="Text 151"/>
          <p:cNvSpPr/>
          <p:nvPr/>
        </p:nvSpPr>
        <p:spPr>
          <a:xfrm>
            <a:off x="4545137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825" dirty="0"/>
          </a:p>
        </p:txBody>
      </p:sp>
      <p:sp>
        <p:nvSpPr>
          <p:cNvPr id="154" name="Shape 152"/>
          <p:cNvSpPr/>
          <p:nvPr/>
        </p:nvSpPr>
        <p:spPr>
          <a:xfrm>
            <a:off x="4944294" y="4784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70829A"/>
          </a:solidFill>
          <a:ln/>
        </p:spPr>
      </p:sp>
      <p:sp>
        <p:nvSpPr>
          <p:cNvPr id="155" name="Text 153"/>
          <p:cNvSpPr/>
          <p:nvPr/>
        </p:nvSpPr>
        <p:spPr>
          <a:xfrm>
            <a:off x="5017740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825" dirty="0"/>
          </a:p>
        </p:txBody>
      </p:sp>
      <p:sp>
        <p:nvSpPr>
          <p:cNvPr id="156" name="Shape 154"/>
          <p:cNvSpPr/>
          <p:nvPr/>
        </p:nvSpPr>
        <p:spPr>
          <a:xfrm>
            <a:off x="5416897" y="4784675"/>
            <a:ext cx="444103" cy="660425"/>
          </a:xfrm>
          <a:prstGeom prst="roundRect">
            <a:avLst>
              <a:gd name="adj" fmla="val 6434"/>
            </a:avLst>
          </a:prstGeom>
          <a:solidFill>
            <a:srgbClr val="3B5373"/>
          </a:solidFill>
          <a:ln/>
        </p:spPr>
      </p:sp>
      <p:sp>
        <p:nvSpPr>
          <p:cNvPr id="157" name="Text 155"/>
          <p:cNvSpPr/>
          <p:nvPr/>
        </p:nvSpPr>
        <p:spPr>
          <a:xfrm>
            <a:off x="5490344" y="5052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26.0%</a:t>
            </a:r>
            <a:endParaRPr lang="en-US" sz="825" dirty="0"/>
          </a:p>
        </p:txBody>
      </p:sp>
      <p:sp>
        <p:nvSpPr>
          <p:cNvPr id="158" name="Text 156"/>
          <p:cNvSpPr/>
          <p:nvPr/>
        </p:nvSpPr>
        <p:spPr>
          <a:xfrm>
            <a:off x="1962150" y="5741938"/>
            <a:ext cx="28589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</a:t>
            </a:r>
            <a:endParaRPr lang="en-US" sz="825" dirty="0"/>
          </a:p>
        </p:txBody>
      </p:sp>
      <p:sp>
        <p:nvSpPr>
          <p:cNvPr id="159" name="Shape 157"/>
          <p:cNvSpPr/>
          <p:nvPr/>
        </p:nvSpPr>
        <p:spPr>
          <a:xfrm>
            <a:off x="2581275" y="5473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292A8"/>
          </a:solidFill>
          <a:ln/>
        </p:spPr>
      </p:sp>
      <p:sp>
        <p:nvSpPr>
          <p:cNvPr id="160" name="Text 158"/>
          <p:cNvSpPr/>
          <p:nvPr/>
        </p:nvSpPr>
        <p:spPr>
          <a:xfrm>
            <a:off x="2654722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825" dirty="0"/>
          </a:p>
        </p:txBody>
      </p:sp>
      <p:sp>
        <p:nvSpPr>
          <p:cNvPr id="161" name="Shape 159"/>
          <p:cNvSpPr/>
          <p:nvPr/>
        </p:nvSpPr>
        <p:spPr>
          <a:xfrm>
            <a:off x="3053879" y="5473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1A0B3"/>
          </a:solidFill>
          <a:ln/>
        </p:spPr>
      </p:sp>
      <p:sp>
        <p:nvSpPr>
          <p:cNvPr id="162" name="Text 160"/>
          <p:cNvSpPr/>
          <p:nvPr/>
        </p:nvSpPr>
        <p:spPr>
          <a:xfrm>
            <a:off x="3127325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825" dirty="0"/>
          </a:p>
        </p:txBody>
      </p:sp>
      <p:sp>
        <p:nvSpPr>
          <p:cNvPr id="163" name="Shape 161"/>
          <p:cNvSpPr/>
          <p:nvPr/>
        </p:nvSpPr>
        <p:spPr>
          <a:xfrm>
            <a:off x="3526482" y="5473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96A4B6"/>
          </a:solidFill>
          <a:ln/>
        </p:spPr>
      </p:sp>
      <p:sp>
        <p:nvSpPr>
          <p:cNvPr id="164" name="Text 162"/>
          <p:cNvSpPr/>
          <p:nvPr/>
        </p:nvSpPr>
        <p:spPr>
          <a:xfrm>
            <a:off x="3599929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825" dirty="0"/>
          </a:p>
        </p:txBody>
      </p:sp>
      <p:sp>
        <p:nvSpPr>
          <p:cNvPr id="165" name="Shape 163"/>
          <p:cNvSpPr/>
          <p:nvPr/>
        </p:nvSpPr>
        <p:spPr>
          <a:xfrm>
            <a:off x="3999086" y="5473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C9BAF"/>
          </a:solidFill>
          <a:ln/>
        </p:spPr>
      </p:sp>
      <p:sp>
        <p:nvSpPr>
          <p:cNvPr id="166" name="Text 164"/>
          <p:cNvSpPr/>
          <p:nvPr/>
        </p:nvSpPr>
        <p:spPr>
          <a:xfrm>
            <a:off x="4072533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825" dirty="0"/>
          </a:p>
        </p:txBody>
      </p:sp>
      <p:sp>
        <p:nvSpPr>
          <p:cNvPr id="167" name="Shape 165"/>
          <p:cNvSpPr/>
          <p:nvPr/>
        </p:nvSpPr>
        <p:spPr>
          <a:xfrm>
            <a:off x="4471690" y="5473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8292A7"/>
          </a:solidFill>
          <a:ln/>
        </p:spPr>
      </p:sp>
      <p:sp>
        <p:nvSpPr>
          <p:cNvPr id="168" name="Text 166"/>
          <p:cNvSpPr/>
          <p:nvPr/>
        </p:nvSpPr>
        <p:spPr>
          <a:xfrm>
            <a:off x="4545137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825" dirty="0"/>
          </a:p>
        </p:txBody>
      </p:sp>
      <p:sp>
        <p:nvSpPr>
          <p:cNvPr id="169" name="Shape 167"/>
          <p:cNvSpPr/>
          <p:nvPr/>
        </p:nvSpPr>
        <p:spPr>
          <a:xfrm>
            <a:off x="4944294" y="5473675"/>
            <a:ext cx="444029" cy="660425"/>
          </a:xfrm>
          <a:prstGeom prst="roundRect">
            <a:avLst>
              <a:gd name="adj" fmla="val 6435"/>
            </a:avLst>
          </a:prstGeom>
          <a:solidFill>
            <a:srgbClr val="5A6E8A"/>
          </a:solidFill>
          <a:ln/>
        </p:spPr>
      </p:sp>
      <p:sp>
        <p:nvSpPr>
          <p:cNvPr id="170" name="Text 168"/>
          <p:cNvSpPr/>
          <p:nvPr/>
        </p:nvSpPr>
        <p:spPr>
          <a:xfrm>
            <a:off x="5017740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825" dirty="0"/>
          </a:p>
        </p:txBody>
      </p:sp>
      <p:sp>
        <p:nvSpPr>
          <p:cNvPr id="171" name="Shape 169"/>
          <p:cNvSpPr/>
          <p:nvPr/>
        </p:nvSpPr>
        <p:spPr>
          <a:xfrm>
            <a:off x="5416897" y="5473675"/>
            <a:ext cx="444103" cy="660425"/>
          </a:xfrm>
          <a:prstGeom prst="roundRect">
            <a:avLst>
              <a:gd name="adj" fmla="val 6434"/>
            </a:avLst>
          </a:prstGeom>
          <a:solidFill>
            <a:srgbClr val="264064"/>
          </a:solidFill>
          <a:ln/>
        </p:spPr>
      </p:sp>
      <p:sp>
        <p:nvSpPr>
          <p:cNvPr id="172" name="Text 170"/>
          <p:cNvSpPr/>
          <p:nvPr/>
        </p:nvSpPr>
        <p:spPr>
          <a:xfrm>
            <a:off x="5490344" y="5741938"/>
            <a:ext cx="3733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29.0%</a:t>
            </a:r>
            <a:endParaRPr lang="en-US" sz="825" dirty="0"/>
          </a:p>
        </p:txBody>
      </p:sp>
      <p:sp>
        <p:nvSpPr>
          <p:cNvPr id="173" name="Text 171"/>
          <p:cNvSpPr/>
          <p:nvPr/>
        </p:nvSpPr>
        <p:spPr>
          <a:xfrm>
            <a:off x="1962150" y="6210300"/>
            <a:ext cx="13512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of service (years) →</a:t>
            </a:r>
            <a:endParaRPr lang="en-US" sz="788" dirty="0"/>
          </a:p>
        </p:txBody>
      </p:sp>
      <p:sp>
        <p:nvSpPr>
          <p:cNvPr id="174" name="Text 172"/>
          <p:cNvSpPr/>
          <p:nvPr/>
        </p:nvSpPr>
        <p:spPr>
          <a:xfrm>
            <a:off x="4220840" y="6210300"/>
            <a:ext cx="2207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88" dirty="0"/>
          </a:p>
        </p:txBody>
      </p:sp>
      <p:sp>
        <p:nvSpPr>
          <p:cNvPr id="175" name="Shape 173"/>
          <p:cNvSpPr/>
          <p:nvPr/>
        </p:nvSpPr>
        <p:spPr>
          <a:xfrm>
            <a:off x="4441627" y="6229350"/>
            <a:ext cx="1143000" cy="76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EEF2F7">
                  <a:alpha val="100000"/>
                </a:srgbClr>
              </a:gs>
              <a:gs pos="100000">
                <a:srgbClr val="1F3A5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76" name="Text 174"/>
          <p:cNvSpPr/>
          <p:nvPr/>
        </p:nvSpPr>
        <p:spPr>
          <a:xfrm>
            <a:off x="5660827" y="6210300"/>
            <a:ext cx="27637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788" dirty="0"/>
          </a:p>
        </p:txBody>
      </p:sp>
      <p:sp>
        <p:nvSpPr>
          <p:cNvPr id="177" name="Shape 175"/>
          <p:cNvSpPr/>
          <p:nvPr/>
        </p:nvSpPr>
        <p:spPr>
          <a:xfrm>
            <a:off x="6146750" y="1295400"/>
            <a:ext cx="3301975" cy="51435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6280100" y="1409700"/>
            <a:ext cx="24717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 RATIOS · GROUPED LOGISTIC REGRESSION</a:t>
            </a:r>
            <a:endParaRPr lang="en-US" sz="825" dirty="0"/>
          </a:p>
        </p:txBody>
      </p:sp>
      <p:sp>
        <p:nvSpPr>
          <p:cNvPr id="179" name="Shape 177"/>
          <p:cNvSpPr/>
          <p:nvPr/>
        </p:nvSpPr>
        <p:spPr>
          <a:xfrm>
            <a:off x="8751838" y="1409700"/>
            <a:ext cx="563538" cy="247650"/>
          </a:xfrm>
          <a:prstGeom prst="roundRect">
            <a:avLst>
              <a:gd name="adj" fmla="val 11538"/>
            </a:avLst>
          </a:prstGeom>
          <a:solidFill>
            <a:srgbClr val="EEF0F3"/>
          </a:solidFill>
          <a:ln/>
        </p:spPr>
      </p:sp>
      <p:sp>
        <p:nvSpPr>
          <p:cNvPr id="180" name="Text 178"/>
          <p:cNvSpPr/>
          <p:nvPr/>
        </p:nvSpPr>
        <p:spPr>
          <a:xfrm>
            <a:off x="8808988" y="1438275"/>
            <a:ext cx="525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6280100" y="1752600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3925" y="1733550"/>
            <a:ext cx="615479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odds</a:t>
            </a:r>
            <a:endParaRPr lang="en-US" sz="788" dirty="0"/>
          </a:p>
        </p:txBody>
      </p:sp>
      <p:sp>
        <p:nvSpPr>
          <p:cNvPr id="183" name="Shape 181"/>
          <p:cNvSpPr/>
          <p:nvPr/>
        </p:nvSpPr>
        <p:spPr>
          <a:xfrm>
            <a:off x="7057504" y="1752600"/>
            <a:ext cx="76200" cy="76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84" name="Text 182"/>
          <p:cNvSpPr/>
          <p:nvPr/>
        </p:nvSpPr>
        <p:spPr>
          <a:xfrm>
            <a:off x="7181329" y="1733550"/>
            <a:ext cx="59330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odds</a:t>
            </a:r>
            <a:endParaRPr lang="en-US" sz="788" dirty="0"/>
          </a:p>
        </p:txBody>
      </p:sp>
      <p:sp>
        <p:nvSpPr>
          <p:cNvPr id="185" name="Shape 183"/>
          <p:cNvSpPr/>
          <p:nvPr/>
        </p:nvSpPr>
        <p:spPr>
          <a:xfrm>
            <a:off x="7812732" y="1752600"/>
            <a:ext cx="76200" cy="7620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186" name="Text 184"/>
          <p:cNvSpPr/>
          <p:nvPr/>
        </p:nvSpPr>
        <p:spPr>
          <a:xfrm>
            <a:off x="7936557" y="1733550"/>
            <a:ext cx="631999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crosses 1</a:t>
            </a:r>
            <a:endParaRPr lang="en-US" sz="788" dirty="0"/>
          </a:p>
        </p:txBody>
      </p:sp>
      <p:sp>
        <p:nvSpPr>
          <p:cNvPr id="187" name="Shape 185"/>
          <p:cNvSpPr/>
          <p:nvPr/>
        </p:nvSpPr>
        <p:spPr>
          <a:xfrm>
            <a:off x="6280100" y="2265313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8" name="Text 186"/>
          <p:cNvSpPr/>
          <p:nvPr/>
        </p:nvSpPr>
        <p:spPr>
          <a:xfrm>
            <a:off x="6280100" y="1974726"/>
            <a:ext cx="12954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GS 13–14 (ref GS 7–9)</a:t>
            </a:r>
            <a:endParaRPr lang="en-US" sz="788" dirty="0"/>
          </a:p>
        </p:txBody>
      </p:sp>
      <p:sp>
        <p:nvSpPr>
          <p:cNvPr id="189" name="Shape 187"/>
          <p:cNvSpPr/>
          <p:nvPr/>
        </p:nvSpPr>
        <p:spPr>
          <a:xfrm>
            <a:off x="8445401" y="1924050"/>
            <a:ext cx="9525" cy="341263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190" name="Shape 188"/>
          <p:cNvSpPr/>
          <p:nvPr/>
        </p:nvSpPr>
        <p:spPr>
          <a:xfrm>
            <a:off x="8579346" y="2085156"/>
            <a:ext cx="172120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1" name="Shape 189"/>
          <p:cNvSpPr/>
          <p:nvPr/>
        </p:nvSpPr>
        <p:spPr>
          <a:xfrm>
            <a:off x="8627343" y="2056581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280100" y="2616175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3" name="Text 191"/>
          <p:cNvSpPr/>
          <p:nvPr/>
        </p:nvSpPr>
        <p:spPr>
          <a:xfrm>
            <a:off x="6280100" y="2385492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GS 15 / SES</a:t>
            </a:r>
            <a:endParaRPr lang="en-US" sz="788" dirty="0"/>
          </a:p>
        </p:txBody>
      </p:sp>
      <p:sp>
        <p:nvSpPr>
          <p:cNvPr id="194" name="Shape 192"/>
          <p:cNvSpPr/>
          <p:nvPr/>
        </p:nvSpPr>
        <p:spPr>
          <a:xfrm>
            <a:off x="8445401" y="2274838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195" name="Shape 193"/>
          <p:cNvSpPr/>
          <p:nvPr/>
        </p:nvSpPr>
        <p:spPr>
          <a:xfrm>
            <a:off x="8674968" y="2435944"/>
            <a:ext cx="169366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6" name="Shape 194"/>
          <p:cNvSpPr/>
          <p:nvPr/>
        </p:nvSpPr>
        <p:spPr>
          <a:xfrm>
            <a:off x="8721551" y="2407369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7" name="Shape 195"/>
          <p:cNvSpPr/>
          <p:nvPr/>
        </p:nvSpPr>
        <p:spPr>
          <a:xfrm>
            <a:off x="6280100" y="2966963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8" name="Text 196"/>
          <p:cNvSpPr/>
          <p:nvPr/>
        </p:nvSpPr>
        <p:spPr>
          <a:xfrm>
            <a:off x="6280100" y="2736354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GS 1–6</a:t>
            </a:r>
            <a:endParaRPr lang="en-US" sz="788" dirty="0"/>
          </a:p>
        </p:txBody>
      </p:sp>
      <p:sp>
        <p:nvSpPr>
          <p:cNvPr id="199" name="Shape 197"/>
          <p:cNvSpPr/>
          <p:nvPr/>
        </p:nvSpPr>
        <p:spPr>
          <a:xfrm>
            <a:off x="8445401" y="2625700"/>
            <a:ext cx="9525" cy="341263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339882" y="2786807"/>
            <a:ext cx="330622" cy="190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467130" y="2758232"/>
            <a:ext cx="76200" cy="7620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6280100" y="3317825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3" name="Text 201"/>
          <p:cNvSpPr/>
          <p:nvPr/>
        </p:nvSpPr>
        <p:spPr>
          <a:xfrm>
            <a:off x="6280100" y="3087142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&lt;2 yrs (ref 5–9)</a:t>
            </a:r>
            <a:endParaRPr lang="en-US" sz="788" dirty="0"/>
          </a:p>
        </p:txBody>
      </p:sp>
      <p:sp>
        <p:nvSpPr>
          <p:cNvPr id="204" name="Shape 202"/>
          <p:cNvSpPr/>
          <p:nvPr/>
        </p:nvSpPr>
        <p:spPr>
          <a:xfrm>
            <a:off x="8445401" y="2976488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05" name="Shape 203"/>
          <p:cNvSpPr/>
          <p:nvPr/>
        </p:nvSpPr>
        <p:spPr>
          <a:xfrm>
            <a:off x="8556203" y="3137595"/>
            <a:ext cx="200620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6" name="Shape 204"/>
          <p:cNvSpPr/>
          <p:nvPr/>
        </p:nvSpPr>
        <p:spPr>
          <a:xfrm>
            <a:off x="8618413" y="3109020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7" name="Shape 205"/>
          <p:cNvSpPr/>
          <p:nvPr/>
        </p:nvSpPr>
        <p:spPr>
          <a:xfrm>
            <a:off x="6280100" y="3668613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8" name="Text 206"/>
          <p:cNvSpPr/>
          <p:nvPr/>
        </p:nvSpPr>
        <p:spPr>
          <a:xfrm>
            <a:off x="6280100" y="3438004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20+ yrs</a:t>
            </a:r>
            <a:endParaRPr lang="en-US" sz="788" dirty="0"/>
          </a:p>
        </p:txBody>
      </p:sp>
      <p:sp>
        <p:nvSpPr>
          <p:cNvPr id="209" name="Shape 207"/>
          <p:cNvSpPr/>
          <p:nvPr/>
        </p:nvSpPr>
        <p:spPr>
          <a:xfrm>
            <a:off x="8445401" y="3327350"/>
            <a:ext cx="9525" cy="341263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10" name="Shape 208"/>
          <p:cNvSpPr/>
          <p:nvPr/>
        </p:nvSpPr>
        <p:spPr>
          <a:xfrm>
            <a:off x="8823275" y="3488457"/>
            <a:ext cx="175320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1" name="Shape 209"/>
          <p:cNvSpPr/>
          <p:nvPr/>
        </p:nvSpPr>
        <p:spPr>
          <a:xfrm>
            <a:off x="8872910" y="3459882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2" name="Shape 210"/>
          <p:cNvSpPr/>
          <p:nvPr/>
        </p:nvSpPr>
        <p:spPr>
          <a:xfrm>
            <a:off x="6280100" y="4019476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13" name="Text 211"/>
          <p:cNvSpPr/>
          <p:nvPr/>
        </p:nvSpPr>
        <p:spPr>
          <a:xfrm>
            <a:off x="6280100" y="3788792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55+ (ref 35–44)</a:t>
            </a:r>
            <a:endParaRPr lang="en-US" sz="788" dirty="0"/>
          </a:p>
        </p:txBody>
      </p:sp>
      <p:sp>
        <p:nvSpPr>
          <p:cNvPr id="214" name="Shape 212"/>
          <p:cNvSpPr/>
          <p:nvPr/>
        </p:nvSpPr>
        <p:spPr>
          <a:xfrm>
            <a:off x="8445401" y="3678138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15" name="Shape 213"/>
          <p:cNvSpPr/>
          <p:nvPr/>
        </p:nvSpPr>
        <p:spPr>
          <a:xfrm>
            <a:off x="8852148" y="3839245"/>
            <a:ext cx="231874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6" name="Shape 214"/>
          <p:cNvSpPr/>
          <p:nvPr/>
        </p:nvSpPr>
        <p:spPr>
          <a:xfrm>
            <a:off x="8929985" y="3810670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7" name="Shape 215"/>
          <p:cNvSpPr/>
          <p:nvPr/>
        </p:nvSpPr>
        <p:spPr>
          <a:xfrm>
            <a:off x="6280100" y="4370263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18" name="Text 216"/>
          <p:cNvSpPr/>
          <p:nvPr/>
        </p:nvSpPr>
        <p:spPr>
          <a:xfrm>
            <a:off x="6280100" y="4139654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&lt;30</a:t>
            </a:r>
            <a:endParaRPr lang="en-US" sz="788" dirty="0"/>
          </a:p>
        </p:txBody>
      </p:sp>
      <p:sp>
        <p:nvSpPr>
          <p:cNvPr id="219" name="Shape 217"/>
          <p:cNvSpPr/>
          <p:nvPr/>
        </p:nvSpPr>
        <p:spPr>
          <a:xfrm>
            <a:off x="8445401" y="4029001"/>
            <a:ext cx="9525" cy="341263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20" name="Shape 218"/>
          <p:cNvSpPr/>
          <p:nvPr/>
        </p:nvSpPr>
        <p:spPr>
          <a:xfrm>
            <a:off x="8390260" y="4190107"/>
            <a:ext cx="171450" cy="190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437885" y="4161532"/>
            <a:ext cx="76200" cy="7620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222" name="Shape 220"/>
          <p:cNvSpPr/>
          <p:nvPr/>
        </p:nvSpPr>
        <p:spPr>
          <a:xfrm>
            <a:off x="6280100" y="4721126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23" name="Text 221"/>
          <p:cNvSpPr/>
          <p:nvPr/>
        </p:nvSpPr>
        <p:spPr>
          <a:xfrm>
            <a:off x="6280100" y="4490442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Supervisory: yes</a:t>
            </a:r>
            <a:endParaRPr lang="en-US" sz="788" dirty="0"/>
          </a:p>
        </p:txBody>
      </p:sp>
      <p:sp>
        <p:nvSpPr>
          <p:cNvPr id="224" name="Shape 222"/>
          <p:cNvSpPr/>
          <p:nvPr/>
        </p:nvSpPr>
        <p:spPr>
          <a:xfrm>
            <a:off x="8445401" y="4379788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25" name="Shape 223"/>
          <p:cNvSpPr/>
          <p:nvPr/>
        </p:nvSpPr>
        <p:spPr>
          <a:xfrm>
            <a:off x="8402985" y="4540895"/>
            <a:ext cx="364852" cy="190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226" name="Shape 224"/>
          <p:cNvSpPr/>
          <p:nvPr/>
        </p:nvSpPr>
        <p:spPr>
          <a:xfrm>
            <a:off x="8547348" y="4512320"/>
            <a:ext cx="76200" cy="7620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280100" y="5071988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28" name="Text 226"/>
          <p:cNvSpPr/>
          <p:nvPr/>
        </p:nvSpPr>
        <p:spPr>
          <a:xfrm>
            <a:off x="6280100" y="4781327"/>
            <a:ext cx="12954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Occ.: Administrative (ref Prof.)</a:t>
            </a:r>
            <a:endParaRPr lang="en-US" sz="788" dirty="0"/>
          </a:p>
        </p:txBody>
      </p:sp>
      <p:sp>
        <p:nvSpPr>
          <p:cNvPr id="229" name="Shape 227"/>
          <p:cNvSpPr/>
          <p:nvPr/>
        </p:nvSpPr>
        <p:spPr>
          <a:xfrm>
            <a:off x="8445401" y="4730651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30" name="Shape 228"/>
          <p:cNvSpPr/>
          <p:nvPr/>
        </p:nvSpPr>
        <p:spPr>
          <a:xfrm>
            <a:off x="8457679" y="4891757"/>
            <a:ext cx="304726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1" name="Shape 229"/>
          <p:cNvSpPr/>
          <p:nvPr/>
        </p:nvSpPr>
        <p:spPr>
          <a:xfrm>
            <a:off x="8571905" y="4863182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2" name="Shape 230"/>
          <p:cNvSpPr/>
          <p:nvPr/>
        </p:nvSpPr>
        <p:spPr>
          <a:xfrm>
            <a:off x="6280100" y="5422850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33" name="Text 231"/>
          <p:cNvSpPr/>
          <p:nvPr/>
        </p:nvSpPr>
        <p:spPr>
          <a:xfrm>
            <a:off x="6280100" y="5192167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Occ.: Technical</a:t>
            </a:r>
            <a:endParaRPr lang="en-US" sz="788" dirty="0"/>
          </a:p>
        </p:txBody>
      </p:sp>
      <p:sp>
        <p:nvSpPr>
          <p:cNvPr id="234" name="Shape 232"/>
          <p:cNvSpPr/>
          <p:nvPr/>
        </p:nvSpPr>
        <p:spPr>
          <a:xfrm>
            <a:off x="8445401" y="5081513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35" name="Shape 233"/>
          <p:cNvSpPr/>
          <p:nvPr/>
        </p:nvSpPr>
        <p:spPr>
          <a:xfrm>
            <a:off x="8202737" y="5242620"/>
            <a:ext cx="324817" cy="190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236" name="Shape 234"/>
          <p:cNvSpPr/>
          <p:nvPr/>
        </p:nvSpPr>
        <p:spPr>
          <a:xfrm>
            <a:off x="8327082" y="5214045"/>
            <a:ext cx="76200" cy="7620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280100" y="5773713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38" name="Text 236"/>
          <p:cNvSpPr/>
          <p:nvPr/>
        </p:nvSpPr>
        <p:spPr>
          <a:xfrm>
            <a:off x="6280100" y="5543029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Tenure: non-permanent</a:t>
            </a:r>
            <a:endParaRPr lang="en-US" sz="788" dirty="0"/>
          </a:p>
        </p:txBody>
      </p:sp>
      <p:sp>
        <p:nvSpPr>
          <p:cNvPr id="239" name="Shape 237"/>
          <p:cNvSpPr/>
          <p:nvPr/>
        </p:nvSpPr>
        <p:spPr>
          <a:xfrm>
            <a:off x="8445401" y="5432375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40" name="Shape 238"/>
          <p:cNvSpPr/>
          <p:nvPr/>
        </p:nvSpPr>
        <p:spPr>
          <a:xfrm>
            <a:off x="8488859" y="5593482"/>
            <a:ext cx="289694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1" name="Shape 239"/>
          <p:cNvSpPr/>
          <p:nvPr/>
        </p:nvSpPr>
        <p:spPr>
          <a:xfrm>
            <a:off x="8595643" y="5564907"/>
            <a:ext cx="76200" cy="76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280100" y="6124575"/>
            <a:ext cx="3035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43" name="Text 241"/>
          <p:cNvSpPr/>
          <p:nvPr/>
        </p:nvSpPr>
        <p:spPr>
          <a:xfrm>
            <a:off x="6280100" y="5893891"/>
            <a:ext cx="1341120" cy="158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Veteran: yes</a:t>
            </a:r>
            <a:endParaRPr lang="en-US" sz="788" dirty="0"/>
          </a:p>
        </p:txBody>
      </p:sp>
      <p:sp>
        <p:nvSpPr>
          <p:cNvPr id="244" name="Shape 242"/>
          <p:cNvSpPr/>
          <p:nvPr/>
        </p:nvSpPr>
        <p:spPr>
          <a:xfrm>
            <a:off x="8445401" y="5783238"/>
            <a:ext cx="9525" cy="341337"/>
          </a:xfrm>
          <a:prstGeom prst="rect">
            <a:avLst/>
          </a:prstGeom>
          <a:solidFill>
            <a:srgbClr val="B8C0CA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239720" y="5944344"/>
            <a:ext cx="333598" cy="190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246" name="Shape 244"/>
          <p:cNvSpPr/>
          <p:nvPr/>
        </p:nvSpPr>
        <p:spPr>
          <a:xfrm>
            <a:off x="8368457" y="5915769"/>
            <a:ext cx="76200" cy="76200"/>
          </a:xfrm>
          <a:prstGeom prst="ellipse">
            <a:avLst/>
          </a:prstGeom>
          <a:solidFill>
            <a:srgbClr val="9AA3AE"/>
          </a:solidFill>
          <a:ln/>
        </p:spPr>
      </p:sp>
      <p:sp>
        <p:nvSpPr>
          <p:cNvPr id="247" name="Text 245"/>
          <p:cNvSpPr/>
          <p:nvPr/>
        </p:nvSpPr>
        <p:spPr>
          <a:xfrm>
            <a:off x="6280100" y="6210300"/>
            <a:ext cx="1341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 ratio (log), 95% CI</a:t>
            </a:r>
            <a:endParaRPr lang="en-US" sz="750" dirty="0"/>
          </a:p>
        </p:txBody>
      </p:sp>
      <p:sp>
        <p:nvSpPr>
          <p:cNvPr id="248" name="Text 246"/>
          <p:cNvSpPr/>
          <p:nvPr/>
        </p:nvSpPr>
        <p:spPr>
          <a:xfrm>
            <a:off x="7575500" y="6210300"/>
            <a:ext cx="26164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750" dirty="0"/>
          </a:p>
        </p:txBody>
      </p:sp>
      <p:sp>
        <p:nvSpPr>
          <p:cNvPr id="249" name="Text 247"/>
          <p:cNvSpPr/>
          <p:nvPr/>
        </p:nvSpPr>
        <p:spPr>
          <a:xfrm>
            <a:off x="7944222" y="6210300"/>
            <a:ext cx="20865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750" dirty="0"/>
          </a:p>
        </p:txBody>
      </p:sp>
      <p:sp>
        <p:nvSpPr>
          <p:cNvPr id="250" name="Text 248"/>
          <p:cNvSpPr/>
          <p:nvPr/>
        </p:nvSpPr>
        <p:spPr>
          <a:xfrm>
            <a:off x="8418909" y="6210300"/>
            <a:ext cx="12918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51" name="Text 249"/>
          <p:cNvSpPr/>
          <p:nvPr/>
        </p:nvSpPr>
        <p:spPr>
          <a:xfrm>
            <a:off x="8853860" y="6210300"/>
            <a:ext cx="12918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52" name="Text 250"/>
          <p:cNvSpPr/>
          <p:nvPr/>
        </p:nvSpPr>
        <p:spPr>
          <a:xfrm>
            <a:off x="9262393" y="6210300"/>
            <a:ext cx="12918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53" name="Shape 251"/>
          <p:cNvSpPr/>
          <p:nvPr/>
        </p:nvSpPr>
        <p:spPr>
          <a:xfrm>
            <a:off x="9601126" y="1295400"/>
            <a:ext cx="2438400" cy="51435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254" name="Text 252"/>
          <p:cNvSpPr/>
          <p:nvPr/>
        </p:nvSpPr>
        <p:spPr>
          <a:xfrm>
            <a:off x="9734476" y="1423988"/>
            <a:ext cx="69547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FIT</a:t>
            </a:r>
            <a:endParaRPr lang="en-US" sz="825" dirty="0"/>
          </a:p>
        </p:txBody>
      </p:sp>
      <p:sp>
        <p:nvSpPr>
          <p:cNvPr id="255" name="Shape 253"/>
          <p:cNvSpPr/>
          <p:nvPr/>
        </p:nvSpPr>
        <p:spPr>
          <a:xfrm>
            <a:off x="11257062" y="14097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256" name="Text 254"/>
          <p:cNvSpPr/>
          <p:nvPr/>
        </p:nvSpPr>
        <p:spPr>
          <a:xfrm>
            <a:off x="11314212" y="14382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257" name="Text 255"/>
          <p:cNvSpPr/>
          <p:nvPr/>
        </p:nvSpPr>
        <p:spPr>
          <a:xfrm>
            <a:off x="9734476" y="1657350"/>
            <a:ext cx="11144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788" dirty="0"/>
          </a:p>
        </p:txBody>
      </p:sp>
      <p:sp>
        <p:nvSpPr>
          <p:cNvPr id="258" name="Text 256"/>
          <p:cNvSpPr/>
          <p:nvPr/>
        </p:nvSpPr>
        <p:spPr>
          <a:xfrm>
            <a:off x="9734476" y="1790700"/>
            <a:ext cx="11144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</a:t>
            </a:r>
            <a:endParaRPr lang="en-US" sz="1500" dirty="0"/>
          </a:p>
        </p:txBody>
      </p:sp>
      <p:sp>
        <p:nvSpPr>
          <p:cNvPr id="259" name="Text 257"/>
          <p:cNvSpPr/>
          <p:nvPr/>
        </p:nvSpPr>
        <p:spPr>
          <a:xfrm>
            <a:off x="10867951" y="1657350"/>
            <a:ext cx="11144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</a:t>
            </a:r>
            <a:endParaRPr lang="en-US" sz="788" dirty="0"/>
          </a:p>
        </p:txBody>
      </p:sp>
      <p:sp>
        <p:nvSpPr>
          <p:cNvPr id="260" name="Text 258"/>
          <p:cNvSpPr/>
          <p:nvPr/>
        </p:nvSpPr>
        <p:spPr>
          <a:xfrm>
            <a:off x="10867951" y="1790700"/>
            <a:ext cx="11144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0.112</a:t>
            </a:r>
            <a:endParaRPr lang="en-US" sz="1500" dirty="0"/>
          </a:p>
        </p:txBody>
      </p:sp>
      <p:sp>
        <p:nvSpPr>
          <p:cNvPr id="261" name="Text 259"/>
          <p:cNvSpPr/>
          <p:nvPr/>
        </p:nvSpPr>
        <p:spPr>
          <a:xfrm>
            <a:off x="9734476" y="2100263"/>
            <a:ext cx="11144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slope</a:t>
            </a:r>
            <a:endParaRPr lang="en-US" sz="788" dirty="0"/>
          </a:p>
        </p:txBody>
      </p:sp>
      <p:sp>
        <p:nvSpPr>
          <p:cNvPr id="262" name="Text 260"/>
          <p:cNvSpPr/>
          <p:nvPr/>
        </p:nvSpPr>
        <p:spPr>
          <a:xfrm>
            <a:off x="9734476" y="2233613"/>
            <a:ext cx="11144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500" dirty="0"/>
          </a:p>
        </p:txBody>
      </p:sp>
      <p:sp>
        <p:nvSpPr>
          <p:cNvPr id="263" name="Text 261"/>
          <p:cNvSpPr/>
          <p:nvPr/>
        </p:nvSpPr>
        <p:spPr>
          <a:xfrm>
            <a:off x="10867951" y="2100263"/>
            <a:ext cx="11144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</a:t>
            </a:r>
            <a:endParaRPr lang="en-US" sz="788" dirty="0"/>
          </a:p>
        </p:txBody>
      </p:sp>
      <p:sp>
        <p:nvSpPr>
          <p:cNvPr id="264" name="Text 262"/>
          <p:cNvSpPr/>
          <p:nvPr/>
        </p:nvSpPr>
        <p:spPr>
          <a:xfrm>
            <a:off x="10867951" y="2233613"/>
            <a:ext cx="11144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cells</a:t>
            </a:r>
            <a:endParaRPr lang="en-US" sz="1500" dirty="0"/>
          </a:p>
        </p:txBody>
      </p:sp>
      <p:sp>
        <p:nvSpPr>
          <p:cNvPr id="265" name="Shape 263"/>
          <p:cNvSpPr/>
          <p:nvPr/>
        </p:nvSpPr>
        <p:spPr>
          <a:xfrm>
            <a:off x="9734476" y="2543175"/>
            <a:ext cx="2171700" cy="9525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6" name="Text 264"/>
          <p:cNvSpPr/>
          <p:nvPr/>
        </p:nvSpPr>
        <p:spPr>
          <a:xfrm>
            <a:off x="9734476" y="2647950"/>
            <a:ext cx="23888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by decile · predicted vs observed</a:t>
            </a:r>
            <a:endParaRPr lang="en-US" sz="825" dirty="0"/>
          </a:p>
        </p:txBody>
      </p:sp>
      <p:pic>
        <p:nvPicPr>
          <p:cNvPr id="2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4476" y="2867025"/>
            <a:ext cx="217170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0075"/>
            <a:ext cx="121920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538"/>
            <a:ext cx="478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57188"/>
            <a:ext cx="478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being paid below peers predict leaving?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15993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36767" y="233362"/>
            <a:ext cx="4192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27466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48240" y="233362"/>
            <a:ext cx="882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97912" y="166688"/>
            <a:ext cx="876746" cy="266700"/>
          </a:xfrm>
          <a:prstGeom prst="roundRect">
            <a:avLst>
              <a:gd name="adj" fmla="val 21429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8402687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23461" y="233362"/>
            <a:ext cx="622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17534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38308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08580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9354" y="233362"/>
            <a:ext cx="590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91429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12203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76400" cy="659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6875" y="0"/>
            <a:ext cx="9525" cy="6591300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" y="102915"/>
            <a:ext cx="14763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Workforce Shock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3350" y="397148"/>
            <a:ext cx="15401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Leadership · 2018–Jul 2026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3350" y="60960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" y="7524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3350" y="10096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33350" y="11811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075" y="12573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13001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" y="16002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category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3350" y="177165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075" y="184785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189071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" y="21907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33350" y="23622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075" y="24384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24812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" y="27813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33350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75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2018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62013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438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825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350" y="35718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filters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3350" y="550545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" y="561022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3350" y="58054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285750" y="5791200"/>
            <a:ext cx="9535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/ policy shock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33350" y="5986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285750" y="5972175"/>
            <a:ext cx="8624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values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33350" y="616743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5750" y="6153150"/>
            <a:ext cx="4255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33350" y="63484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285750" y="6334125"/>
            <a:ext cx="559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676400" y="6591300"/>
            <a:ext cx="10515600" cy="266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676400" y="6591300"/>
            <a:ext cx="105156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0" y="6672263"/>
            <a:ext cx="8410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OPM Federal Workforce Data (record-level employment snapshots, separations, accessions), Jan 2018 – Jul 2026 · BLS JOLTS quits rates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9626798" y="6672263"/>
            <a:ext cx="2654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31 Jul 2026 · All figures are sample placeholders</a:t>
            </a:r>
            <a:endParaRPr lang="en-US" sz="788" dirty="0"/>
          </a:p>
        </p:txBody>
      </p:sp>
      <p:sp>
        <p:nvSpPr>
          <p:cNvPr id="61" name="Shape 59"/>
          <p:cNvSpPr/>
          <p:nvPr/>
        </p:nvSpPr>
        <p:spPr>
          <a:xfrm>
            <a:off x="1828800" y="762000"/>
            <a:ext cx="5892775" cy="5676900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962150" y="890588"/>
            <a:ext cx="32949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RESIDUAL VS SEPARATION RATE · BY SEGMENT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6939111" y="8763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6996261" y="9048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962150" y="1119188"/>
            <a:ext cx="95250" cy="95250"/>
          </a:xfrm>
          <a:prstGeom prst="ellipse">
            <a:avLst/>
          </a:prstGeom>
          <a:solidFill>
            <a:srgbClr val="1F3A5F">
              <a:alpha val="35000"/>
            </a:srgbClr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14550" y="1104900"/>
            <a:ext cx="31676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(occupational category × grade band) · size = headcount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5342334" y="1157288"/>
            <a:ext cx="152400" cy="1905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68" name="Text 66"/>
          <p:cNvSpPr/>
          <p:nvPr/>
        </p:nvSpPr>
        <p:spPr>
          <a:xfrm>
            <a:off x="5551884" y="1104900"/>
            <a:ext cx="55378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trend</a:t>
            </a:r>
            <a:endParaRPr lang="en-US" sz="825" dirty="0"/>
          </a:p>
        </p:txBody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1304925"/>
            <a:ext cx="5619750" cy="4714875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1962150" y="6096000"/>
            <a:ext cx="5794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residual = annualized adjusted basic pay vs median of peers in same occupational category and grade. Negative = paid below peers.</a:t>
            </a:r>
            <a:endParaRPr lang="en-US" sz="788" dirty="0"/>
          </a:p>
        </p:txBody>
      </p:sp>
      <p:sp>
        <p:nvSpPr>
          <p:cNvPr id="71" name="Shape 68"/>
          <p:cNvSpPr/>
          <p:nvPr/>
        </p:nvSpPr>
        <p:spPr>
          <a:xfrm>
            <a:off x="7873975" y="762000"/>
            <a:ext cx="4165550" cy="392430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8007325" y="876300"/>
            <a:ext cx="3296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RESIDUAL DISTRIBUTION · OCCUPATIONAL CATEGORY</a:t>
            </a:r>
            <a:endParaRPr lang="en-US" sz="825" dirty="0"/>
          </a:p>
        </p:txBody>
      </p:sp>
      <p:sp>
        <p:nvSpPr>
          <p:cNvPr id="73" name="Shape 70"/>
          <p:cNvSpPr/>
          <p:nvPr/>
        </p:nvSpPr>
        <p:spPr>
          <a:xfrm>
            <a:off x="11284223" y="876300"/>
            <a:ext cx="621953" cy="247650"/>
          </a:xfrm>
          <a:prstGeom prst="roundRect">
            <a:avLst>
              <a:gd name="adj" fmla="val 11538"/>
            </a:avLst>
          </a:prstGeom>
          <a:solidFill>
            <a:srgbClr val="EEF0F3"/>
          </a:solidFill>
          <a:ln/>
        </p:spPr>
      </p:sp>
      <p:sp>
        <p:nvSpPr>
          <p:cNvPr id="74" name="Text 71"/>
          <p:cNvSpPr/>
          <p:nvPr/>
        </p:nvSpPr>
        <p:spPr>
          <a:xfrm>
            <a:off x="11341373" y="904875"/>
            <a:ext cx="583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8007325" y="1438275"/>
            <a:ext cx="1143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10537775" y="1238250"/>
            <a:ext cx="9525" cy="52387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77" name="Shape 74"/>
          <p:cNvSpPr/>
          <p:nvPr/>
        </p:nvSpPr>
        <p:spPr>
          <a:xfrm>
            <a:off x="9374609" y="1500188"/>
            <a:ext cx="1915716" cy="9525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78" name="Shape 75"/>
          <p:cNvSpPr/>
          <p:nvPr/>
        </p:nvSpPr>
        <p:spPr>
          <a:xfrm>
            <a:off x="9374609" y="1462088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79" name="Shape 76"/>
          <p:cNvSpPr/>
          <p:nvPr/>
        </p:nvSpPr>
        <p:spPr>
          <a:xfrm>
            <a:off x="11290325" y="1462088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80" name="Shape 77"/>
          <p:cNvSpPr/>
          <p:nvPr/>
        </p:nvSpPr>
        <p:spPr>
          <a:xfrm>
            <a:off x="9990386" y="1353443"/>
            <a:ext cx="684163" cy="293489"/>
          </a:xfrm>
          <a:prstGeom prst="roundRect">
            <a:avLst>
              <a:gd name="adj" fmla="val 6491"/>
            </a:avLst>
          </a:prstGeom>
          <a:solidFill>
            <a:srgbClr val="DCE4EE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324281" y="1353443"/>
            <a:ext cx="19050" cy="29348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2" name="Text 79"/>
          <p:cNvSpPr/>
          <p:nvPr/>
        </p:nvSpPr>
        <p:spPr>
          <a:xfrm>
            <a:off x="8007325" y="1962150"/>
            <a:ext cx="1143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</a:t>
            </a:r>
            <a:endParaRPr lang="en-US" sz="825" dirty="0"/>
          </a:p>
        </p:txBody>
      </p:sp>
      <p:sp>
        <p:nvSpPr>
          <p:cNvPr id="83" name="Shape 80"/>
          <p:cNvSpPr/>
          <p:nvPr/>
        </p:nvSpPr>
        <p:spPr>
          <a:xfrm>
            <a:off x="10537775" y="1762125"/>
            <a:ext cx="9525" cy="52387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84" name="Shape 81"/>
          <p:cNvSpPr/>
          <p:nvPr/>
        </p:nvSpPr>
        <p:spPr>
          <a:xfrm>
            <a:off x="9511457" y="2024062"/>
            <a:ext cx="1915716" cy="9525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85" name="Shape 82"/>
          <p:cNvSpPr/>
          <p:nvPr/>
        </p:nvSpPr>
        <p:spPr>
          <a:xfrm>
            <a:off x="9511457" y="1985963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86" name="Shape 83"/>
          <p:cNvSpPr/>
          <p:nvPr/>
        </p:nvSpPr>
        <p:spPr>
          <a:xfrm>
            <a:off x="11427172" y="1985963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87" name="Shape 84"/>
          <p:cNvSpPr/>
          <p:nvPr/>
        </p:nvSpPr>
        <p:spPr>
          <a:xfrm>
            <a:off x="10127233" y="1877318"/>
            <a:ext cx="684163" cy="293489"/>
          </a:xfrm>
          <a:prstGeom prst="roundRect">
            <a:avLst>
              <a:gd name="adj" fmla="val 6491"/>
            </a:avLst>
          </a:prstGeom>
          <a:solidFill>
            <a:srgbClr val="DCE4EE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0461129" y="1877318"/>
            <a:ext cx="19050" cy="29348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9" name="Text 86"/>
          <p:cNvSpPr/>
          <p:nvPr/>
        </p:nvSpPr>
        <p:spPr>
          <a:xfrm>
            <a:off x="8007325" y="2486025"/>
            <a:ext cx="1143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825" dirty="0"/>
          </a:p>
        </p:txBody>
      </p:sp>
      <p:sp>
        <p:nvSpPr>
          <p:cNvPr id="90" name="Shape 87"/>
          <p:cNvSpPr/>
          <p:nvPr/>
        </p:nvSpPr>
        <p:spPr>
          <a:xfrm>
            <a:off x="10537775" y="2286000"/>
            <a:ext cx="9525" cy="52387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91" name="Shape 88"/>
          <p:cNvSpPr/>
          <p:nvPr/>
        </p:nvSpPr>
        <p:spPr>
          <a:xfrm>
            <a:off x="9237762" y="2547938"/>
            <a:ext cx="1915716" cy="9525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92" name="Shape 89"/>
          <p:cNvSpPr/>
          <p:nvPr/>
        </p:nvSpPr>
        <p:spPr>
          <a:xfrm>
            <a:off x="9237762" y="2509838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93" name="Shape 90"/>
          <p:cNvSpPr/>
          <p:nvPr/>
        </p:nvSpPr>
        <p:spPr>
          <a:xfrm>
            <a:off x="11153552" y="2509838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94" name="Shape 91"/>
          <p:cNvSpPr/>
          <p:nvPr/>
        </p:nvSpPr>
        <p:spPr>
          <a:xfrm>
            <a:off x="9853538" y="2401193"/>
            <a:ext cx="752549" cy="293489"/>
          </a:xfrm>
          <a:prstGeom prst="roundRect">
            <a:avLst>
              <a:gd name="adj" fmla="val 6491"/>
            </a:avLst>
          </a:prstGeom>
          <a:solidFill>
            <a:srgbClr val="DCE4EE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255821" y="2401193"/>
            <a:ext cx="19050" cy="29348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6" name="Text 93"/>
          <p:cNvSpPr/>
          <p:nvPr/>
        </p:nvSpPr>
        <p:spPr>
          <a:xfrm>
            <a:off x="8007325" y="3009900"/>
            <a:ext cx="1143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Clerical</a:t>
            </a:r>
            <a:endParaRPr lang="en-US" sz="825" dirty="0"/>
          </a:p>
        </p:txBody>
      </p:sp>
      <p:sp>
        <p:nvSpPr>
          <p:cNvPr id="97" name="Shape 94"/>
          <p:cNvSpPr/>
          <p:nvPr/>
        </p:nvSpPr>
        <p:spPr>
          <a:xfrm>
            <a:off x="10537775" y="2809875"/>
            <a:ext cx="9525" cy="52387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98" name="Shape 95"/>
          <p:cNvSpPr/>
          <p:nvPr/>
        </p:nvSpPr>
        <p:spPr>
          <a:xfrm>
            <a:off x="9648304" y="3071813"/>
            <a:ext cx="1573634" cy="9525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99" name="Shape 96"/>
          <p:cNvSpPr/>
          <p:nvPr/>
        </p:nvSpPr>
        <p:spPr>
          <a:xfrm>
            <a:off x="9648304" y="3033713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00" name="Shape 97"/>
          <p:cNvSpPr/>
          <p:nvPr/>
        </p:nvSpPr>
        <p:spPr>
          <a:xfrm>
            <a:off x="11221938" y="3033713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01" name="Shape 98"/>
          <p:cNvSpPr/>
          <p:nvPr/>
        </p:nvSpPr>
        <p:spPr>
          <a:xfrm>
            <a:off x="10195620" y="2925068"/>
            <a:ext cx="547315" cy="293489"/>
          </a:xfrm>
          <a:prstGeom prst="roundRect">
            <a:avLst>
              <a:gd name="adj" fmla="val 6491"/>
            </a:avLst>
          </a:prstGeom>
          <a:solidFill>
            <a:srgbClr val="DCE4EE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0426898" y="2925068"/>
            <a:ext cx="19050" cy="29348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3" name="Text 100"/>
          <p:cNvSpPr/>
          <p:nvPr/>
        </p:nvSpPr>
        <p:spPr>
          <a:xfrm>
            <a:off x="8007325" y="3533775"/>
            <a:ext cx="1143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collar</a:t>
            </a:r>
            <a:endParaRPr lang="en-US" sz="825" dirty="0"/>
          </a:p>
        </p:txBody>
      </p:sp>
      <p:sp>
        <p:nvSpPr>
          <p:cNvPr id="104" name="Shape 101"/>
          <p:cNvSpPr/>
          <p:nvPr/>
        </p:nvSpPr>
        <p:spPr>
          <a:xfrm>
            <a:off x="10537775" y="3333750"/>
            <a:ext cx="9525" cy="52387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105" name="Shape 102"/>
          <p:cNvSpPr/>
          <p:nvPr/>
        </p:nvSpPr>
        <p:spPr>
          <a:xfrm>
            <a:off x="9442996" y="3595688"/>
            <a:ext cx="1915716" cy="9525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06" name="Shape 103"/>
          <p:cNvSpPr/>
          <p:nvPr/>
        </p:nvSpPr>
        <p:spPr>
          <a:xfrm>
            <a:off x="9442996" y="3557588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1358786" y="3557588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08" name="Shape 105"/>
          <p:cNvSpPr/>
          <p:nvPr/>
        </p:nvSpPr>
        <p:spPr>
          <a:xfrm>
            <a:off x="10058772" y="3448943"/>
            <a:ext cx="649932" cy="293489"/>
          </a:xfrm>
          <a:prstGeom prst="roundRect">
            <a:avLst>
              <a:gd name="adj" fmla="val 6491"/>
            </a:avLst>
          </a:prstGeom>
          <a:solidFill>
            <a:srgbClr val="DCE4EE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392668" y="3448943"/>
            <a:ext cx="19050" cy="29348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0" name="Text 107"/>
          <p:cNvSpPr/>
          <p:nvPr/>
        </p:nvSpPr>
        <p:spPr>
          <a:xfrm>
            <a:off x="8007325" y="4057650"/>
            <a:ext cx="1143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white collar</a:t>
            </a:r>
            <a:endParaRPr lang="en-US" sz="825" dirty="0"/>
          </a:p>
        </p:txBody>
      </p:sp>
      <p:sp>
        <p:nvSpPr>
          <p:cNvPr id="111" name="Shape 108"/>
          <p:cNvSpPr/>
          <p:nvPr/>
        </p:nvSpPr>
        <p:spPr>
          <a:xfrm>
            <a:off x="10537775" y="3857625"/>
            <a:ext cx="9525" cy="52387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112" name="Shape 109"/>
          <p:cNvSpPr/>
          <p:nvPr/>
        </p:nvSpPr>
        <p:spPr>
          <a:xfrm>
            <a:off x="9579843" y="4119562"/>
            <a:ext cx="1984177" cy="9525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13" name="Shape 110"/>
          <p:cNvSpPr/>
          <p:nvPr/>
        </p:nvSpPr>
        <p:spPr>
          <a:xfrm>
            <a:off x="9579843" y="4081463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14" name="Shape 111"/>
          <p:cNvSpPr/>
          <p:nvPr/>
        </p:nvSpPr>
        <p:spPr>
          <a:xfrm>
            <a:off x="11564020" y="4081463"/>
            <a:ext cx="9525" cy="76200"/>
          </a:xfrm>
          <a:prstGeom prst="rect">
            <a:avLst/>
          </a:prstGeom>
          <a:solidFill>
            <a:srgbClr val="5B6675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0264080" y="3972818"/>
            <a:ext cx="615776" cy="293489"/>
          </a:xfrm>
          <a:prstGeom prst="roundRect">
            <a:avLst>
              <a:gd name="adj" fmla="val 6491"/>
            </a:avLst>
          </a:prstGeom>
          <a:solidFill>
            <a:srgbClr val="DCE4EE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0563746" y="3972818"/>
            <a:ext cx="19050" cy="29348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7" name="Text 114"/>
          <p:cNvSpPr/>
          <p:nvPr/>
        </p:nvSpPr>
        <p:spPr>
          <a:xfrm>
            <a:off x="8007325" y="4457700"/>
            <a:ext cx="1143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residual (%)</a:t>
            </a:r>
            <a:endParaRPr lang="en-US" sz="750" dirty="0"/>
          </a:p>
        </p:txBody>
      </p:sp>
      <p:sp>
        <p:nvSpPr>
          <p:cNvPr id="118" name="Text 115"/>
          <p:cNvSpPr/>
          <p:nvPr/>
        </p:nvSpPr>
        <p:spPr>
          <a:xfrm>
            <a:off x="9169375" y="4457700"/>
            <a:ext cx="23782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750" dirty="0"/>
          </a:p>
        </p:txBody>
      </p:sp>
      <p:sp>
        <p:nvSpPr>
          <p:cNvPr id="119" name="Text 116"/>
          <p:cNvSpPr/>
          <p:nvPr/>
        </p:nvSpPr>
        <p:spPr>
          <a:xfrm>
            <a:off x="9772724" y="4457700"/>
            <a:ext cx="23782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750" dirty="0"/>
          </a:p>
        </p:txBody>
      </p:sp>
      <p:sp>
        <p:nvSpPr>
          <p:cNvPr id="120" name="Text 117"/>
          <p:cNvSpPr/>
          <p:nvPr/>
        </p:nvSpPr>
        <p:spPr>
          <a:xfrm>
            <a:off x="10511284" y="4457700"/>
            <a:ext cx="12918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121" name="Text 118"/>
          <p:cNvSpPr/>
          <p:nvPr/>
        </p:nvSpPr>
        <p:spPr>
          <a:xfrm>
            <a:off x="11141125" y="4457700"/>
            <a:ext cx="23782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11744548" y="4457700"/>
            <a:ext cx="23782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750" dirty="0"/>
          </a:p>
        </p:txBody>
      </p:sp>
      <p:sp>
        <p:nvSpPr>
          <p:cNvPr id="123" name="Shape 120"/>
          <p:cNvSpPr/>
          <p:nvPr/>
        </p:nvSpPr>
        <p:spPr>
          <a:xfrm>
            <a:off x="7873975" y="4838700"/>
            <a:ext cx="41655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124" name="Text 121"/>
          <p:cNvSpPr/>
          <p:nvPr/>
        </p:nvSpPr>
        <p:spPr>
          <a:xfrm>
            <a:off x="8007325" y="4967288"/>
            <a:ext cx="347394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SUMMARY · SEGMENT SEPARATION RATE</a:t>
            </a:r>
            <a:endParaRPr lang="en-US" sz="825" dirty="0"/>
          </a:p>
        </p:txBody>
      </p:sp>
      <p:sp>
        <p:nvSpPr>
          <p:cNvPr id="125" name="Shape 122"/>
          <p:cNvSpPr/>
          <p:nvPr/>
        </p:nvSpPr>
        <p:spPr>
          <a:xfrm>
            <a:off x="11257062" y="49530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126" name="Text 123"/>
          <p:cNvSpPr/>
          <p:nvPr/>
        </p:nvSpPr>
        <p:spPr>
          <a:xfrm>
            <a:off x="11314212" y="49815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127" name="Text 124"/>
          <p:cNvSpPr/>
          <p:nvPr/>
        </p:nvSpPr>
        <p:spPr>
          <a:xfrm>
            <a:off x="8007325" y="5472113"/>
            <a:ext cx="9906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788" dirty="0"/>
          </a:p>
        </p:txBody>
      </p:sp>
      <p:sp>
        <p:nvSpPr>
          <p:cNvPr id="128" name="Text 125"/>
          <p:cNvSpPr/>
          <p:nvPr/>
        </p:nvSpPr>
        <p:spPr>
          <a:xfrm>
            <a:off x="8007325" y="5605463"/>
            <a:ext cx="990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2250" dirty="0"/>
          </a:p>
        </p:txBody>
      </p:sp>
      <p:sp>
        <p:nvSpPr>
          <p:cNvPr id="129" name="Text 126"/>
          <p:cNvSpPr/>
          <p:nvPr/>
        </p:nvSpPr>
        <p:spPr>
          <a:xfrm>
            <a:off x="8007325" y="5938838"/>
            <a:ext cx="9906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segments · OLS</a:t>
            </a:r>
            <a:endParaRPr lang="en-US" sz="788" dirty="0"/>
          </a:p>
        </p:txBody>
      </p:sp>
      <p:sp>
        <p:nvSpPr>
          <p:cNvPr id="130" name="Shape 127"/>
          <p:cNvSpPr/>
          <p:nvPr/>
        </p:nvSpPr>
        <p:spPr>
          <a:xfrm>
            <a:off x="9074125" y="5412581"/>
            <a:ext cx="2832050" cy="9525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131" name="Text 128"/>
          <p:cNvSpPr/>
          <p:nvPr/>
        </p:nvSpPr>
        <p:spPr>
          <a:xfrm>
            <a:off x="9074125" y="5264944"/>
            <a:ext cx="185795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750" dirty="0"/>
          </a:p>
        </p:txBody>
      </p:sp>
      <p:sp>
        <p:nvSpPr>
          <p:cNvPr id="132" name="Text 129"/>
          <p:cNvSpPr/>
          <p:nvPr/>
        </p:nvSpPr>
        <p:spPr>
          <a:xfrm>
            <a:off x="10763176" y="5264944"/>
            <a:ext cx="60960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750" dirty="0"/>
          </a:p>
        </p:txBody>
      </p:sp>
      <p:sp>
        <p:nvSpPr>
          <p:cNvPr id="133" name="Text 130"/>
          <p:cNvSpPr/>
          <p:nvPr/>
        </p:nvSpPr>
        <p:spPr>
          <a:xfrm>
            <a:off x="11372776" y="5264944"/>
            <a:ext cx="53340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9074125" y="5622131"/>
            <a:ext cx="2832050" cy="9525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35" name="Text 132"/>
          <p:cNvSpPr/>
          <p:nvPr/>
        </p:nvSpPr>
        <p:spPr>
          <a:xfrm>
            <a:off x="9074125" y="5460206"/>
            <a:ext cx="18579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residual (per 1 pt)</a:t>
            </a:r>
            <a:endParaRPr lang="en-US" sz="825" dirty="0"/>
          </a:p>
        </p:txBody>
      </p:sp>
      <p:sp>
        <p:nvSpPr>
          <p:cNvPr id="136" name="Text 133"/>
          <p:cNvSpPr/>
          <p:nvPr/>
        </p:nvSpPr>
        <p:spPr>
          <a:xfrm>
            <a:off x="10763176" y="5460206"/>
            <a:ext cx="609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-0.24</a:t>
            </a:r>
            <a:endParaRPr lang="en-US" sz="825" dirty="0"/>
          </a:p>
        </p:txBody>
      </p:sp>
      <p:sp>
        <p:nvSpPr>
          <p:cNvPr id="137" name="Text 134"/>
          <p:cNvSpPr/>
          <p:nvPr/>
        </p:nvSpPr>
        <p:spPr>
          <a:xfrm>
            <a:off x="11372776" y="5460206"/>
            <a:ext cx="533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825" dirty="0"/>
          </a:p>
        </p:txBody>
      </p:sp>
      <p:sp>
        <p:nvSpPr>
          <p:cNvPr id="138" name="Shape 135"/>
          <p:cNvSpPr/>
          <p:nvPr/>
        </p:nvSpPr>
        <p:spPr>
          <a:xfrm>
            <a:off x="9074125" y="5831681"/>
            <a:ext cx="2832050" cy="9525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39" name="Text 136"/>
          <p:cNvSpPr/>
          <p:nvPr/>
        </p:nvSpPr>
        <p:spPr>
          <a:xfrm>
            <a:off x="9074125" y="5669756"/>
            <a:ext cx="18579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band (per step)</a:t>
            </a:r>
            <a:endParaRPr lang="en-US" sz="825" dirty="0"/>
          </a:p>
        </p:txBody>
      </p:sp>
      <p:sp>
        <p:nvSpPr>
          <p:cNvPr id="140" name="Text 137"/>
          <p:cNvSpPr/>
          <p:nvPr/>
        </p:nvSpPr>
        <p:spPr>
          <a:xfrm>
            <a:off x="10763176" y="5669756"/>
            <a:ext cx="609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825" dirty="0"/>
          </a:p>
        </p:txBody>
      </p:sp>
      <p:sp>
        <p:nvSpPr>
          <p:cNvPr id="141" name="Text 138"/>
          <p:cNvSpPr/>
          <p:nvPr/>
        </p:nvSpPr>
        <p:spPr>
          <a:xfrm>
            <a:off x="11372776" y="5669756"/>
            <a:ext cx="533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825" dirty="0"/>
          </a:p>
        </p:txBody>
      </p:sp>
      <p:sp>
        <p:nvSpPr>
          <p:cNvPr id="142" name="Shape 139"/>
          <p:cNvSpPr/>
          <p:nvPr/>
        </p:nvSpPr>
        <p:spPr>
          <a:xfrm>
            <a:off x="9074125" y="6041231"/>
            <a:ext cx="2832050" cy="9525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3" name="Text 140"/>
          <p:cNvSpPr/>
          <p:nvPr/>
        </p:nvSpPr>
        <p:spPr>
          <a:xfrm>
            <a:off x="9074125" y="5879306"/>
            <a:ext cx="18579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 (per step)</a:t>
            </a:r>
            <a:endParaRPr lang="en-US" sz="825" dirty="0"/>
          </a:p>
        </p:txBody>
      </p:sp>
      <p:sp>
        <p:nvSpPr>
          <p:cNvPr id="144" name="Text 141"/>
          <p:cNvSpPr/>
          <p:nvPr/>
        </p:nvSpPr>
        <p:spPr>
          <a:xfrm>
            <a:off x="10763176" y="5879306"/>
            <a:ext cx="609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−0.38</a:t>
            </a:r>
            <a:endParaRPr lang="en-US" sz="825" dirty="0"/>
          </a:p>
        </p:txBody>
      </p:sp>
      <p:sp>
        <p:nvSpPr>
          <p:cNvPr id="145" name="Text 142"/>
          <p:cNvSpPr/>
          <p:nvPr/>
        </p:nvSpPr>
        <p:spPr>
          <a:xfrm>
            <a:off x="11372776" y="5879306"/>
            <a:ext cx="533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</a:t>
            </a:r>
            <a:endParaRPr lang="en-US" sz="825" dirty="0"/>
          </a:p>
        </p:txBody>
      </p:sp>
      <p:sp>
        <p:nvSpPr>
          <p:cNvPr id="146" name="Shape 143"/>
          <p:cNvSpPr/>
          <p:nvPr/>
        </p:nvSpPr>
        <p:spPr>
          <a:xfrm>
            <a:off x="9074125" y="6250781"/>
            <a:ext cx="2832050" cy="9525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7" name="Text 144"/>
          <p:cNvSpPr/>
          <p:nvPr/>
        </p:nvSpPr>
        <p:spPr>
          <a:xfrm>
            <a:off x="9074125" y="6088856"/>
            <a:ext cx="18579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</a:t>
            </a:r>
            <a:endParaRPr lang="en-US" sz="825" dirty="0"/>
          </a:p>
        </p:txBody>
      </p:sp>
      <p:sp>
        <p:nvSpPr>
          <p:cNvPr id="148" name="Text 145"/>
          <p:cNvSpPr/>
          <p:nvPr/>
        </p:nvSpPr>
        <p:spPr>
          <a:xfrm>
            <a:off x="10763176" y="6088856"/>
            <a:ext cx="609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10.88</a:t>
            </a:r>
            <a:endParaRPr lang="en-US" sz="825" dirty="0"/>
          </a:p>
        </p:txBody>
      </p:sp>
      <p:sp>
        <p:nvSpPr>
          <p:cNvPr id="149" name="Text 146"/>
          <p:cNvSpPr/>
          <p:nvPr/>
        </p:nvSpPr>
        <p:spPr>
          <a:xfrm>
            <a:off x="11372776" y="6088856"/>
            <a:ext cx="533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0075"/>
            <a:ext cx="121920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538"/>
            <a:ext cx="478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Archetypes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57188"/>
            <a:ext cx="478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agencies share the same exposure?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15993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36767" y="233362"/>
            <a:ext cx="4192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27466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48240" y="233362"/>
            <a:ext cx="882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02687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23461" y="233362"/>
            <a:ext cx="622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12759" y="166688"/>
            <a:ext cx="952946" cy="266700"/>
          </a:xfrm>
          <a:prstGeom prst="roundRect">
            <a:avLst>
              <a:gd name="adj" fmla="val 21429"/>
            </a:avLst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317534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38308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08580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9354" y="233362"/>
            <a:ext cx="590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91429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12203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76400" cy="659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6875" y="0"/>
            <a:ext cx="9525" cy="6591300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" y="102915"/>
            <a:ext cx="14763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Workforce Shock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3350" y="397148"/>
            <a:ext cx="15401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Leadership · 2018–Jul 2026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3350" y="60960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" y="7524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3350" y="10096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33350" y="11811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075" y="12573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13001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" y="16002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category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3350" y="177165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075" y="184785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189071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" y="21907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33350" y="23622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075" y="24384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24812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" y="27813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33350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75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2018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62013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438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825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350" y="35718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filters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3350" y="550545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" y="561022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3350" y="58054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285750" y="5791200"/>
            <a:ext cx="9535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/ policy shock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33350" y="5986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285750" y="5972175"/>
            <a:ext cx="8624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values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33350" y="616743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5750" y="6153150"/>
            <a:ext cx="4255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33350" y="63484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285750" y="6334125"/>
            <a:ext cx="559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676400" y="6591300"/>
            <a:ext cx="10515600" cy="266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676400" y="6591300"/>
            <a:ext cx="105156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0" y="6672263"/>
            <a:ext cx="8410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OPM Federal Workforce Data (record-level employment snapshots, separations, accessions), Jan 2018 – Jul 2026 · BLS JOLTS quits rates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9626798" y="6672263"/>
            <a:ext cx="2654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31 Jul 2026 · All figures are sample placeholders</a:t>
            </a:r>
            <a:endParaRPr lang="en-US" sz="788" dirty="0"/>
          </a:p>
        </p:txBody>
      </p:sp>
      <p:sp>
        <p:nvSpPr>
          <p:cNvPr id="61" name="Shape 59"/>
          <p:cNvSpPr/>
          <p:nvPr/>
        </p:nvSpPr>
        <p:spPr>
          <a:xfrm>
            <a:off x="1828800" y="762000"/>
            <a:ext cx="41655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962150" y="876300"/>
            <a:ext cx="3283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ON PRINCIPAL COMPONENTS · K-MEANS (K=4)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5226174" y="876300"/>
            <a:ext cx="634826" cy="247650"/>
          </a:xfrm>
          <a:prstGeom prst="roundRect">
            <a:avLst>
              <a:gd name="adj" fmla="val 11538"/>
            </a:avLst>
          </a:prstGeom>
          <a:solidFill>
            <a:srgbClr val="EE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5283324" y="904875"/>
            <a:ext cx="5967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962150" y="1219200"/>
            <a:ext cx="85725" cy="85725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6" name="Text 64"/>
          <p:cNvSpPr/>
          <p:nvPr/>
        </p:nvSpPr>
        <p:spPr>
          <a:xfrm>
            <a:off x="2095500" y="1200150"/>
            <a:ext cx="4955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2629123" y="1219200"/>
            <a:ext cx="85725" cy="85725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68" name="Text 66"/>
          <p:cNvSpPr/>
          <p:nvPr/>
        </p:nvSpPr>
        <p:spPr>
          <a:xfrm>
            <a:off x="2762473" y="1200150"/>
            <a:ext cx="4955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3296096" y="1219200"/>
            <a:ext cx="85725" cy="85725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70" name="Text 68"/>
          <p:cNvSpPr/>
          <p:nvPr/>
        </p:nvSpPr>
        <p:spPr>
          <a:xfrm>
            <a:off x="3429446" y="1200150"/>
            <a:ext cx="4955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3963070" y="1219200"/>
            <a:ext cx="85725" cy="85725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72" name="Text 70"/>
          <p:cNvSpPr/>
          <p:nvPr/>
        </p:nvSpPr>
        <p:spPr>
          <a:xfrm>
            <a:off x="4096420" y="1200150"/>
            <a:ext cx="4955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25" dirty="0"/>
          </a:p>
        </p:txBody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1400175"/>
            <a:ext cx="3895725" cy="2105025"/>
          </a:xfrm>
          <a:prstGeom prst="rect">
            <a:avLst/>
          </a:prstGeom>
        </p:spPr>
      </p:pic>
      <p:sp>
        <p:nvSpPr>
          <p:cNvPr id="74" name="Shape 71"/>
          <p:cNvSpPr/>
          <p:nvPr/>
        </p:nvSpPr>
        <p:spPr>
          <a:xfrm>
            <a:off x="6146750" y="762000"/>
            <a:ext cx="58928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6280100" y="890588"/>
            <a:ext cx="10039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DETAIL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11257136" y="8763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77" name="Text 74"/>
          <p:cNvSpPr/>
          <p:nvPr/>
        </p:nvSpPr>
        <p:spPr>
          <a:xfrm>
            <a:off x="11314286" y="9048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6280100" y="1276350"/>
            <a:ext cx="5626150" cy="9525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79" name="Text 76"/>
          <p:cNvSpPr/>
          <p:nvPr/>
        </p:nvSpPr>
        <p:spPr>
          <a:xfrm>
            <a:off x="6318200" y="1104900"/>
            <a:ext cx="23749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788" dirty="0"/>
          </a:p>
        </p:txBody>
      </p:sp>
      <p:sp>
        <p:nvSpPr>
          <p:cNvPr id="80" name="Text 77"/>
          <p:cNvSpPr/>
          <p:nvPr/>
        </p:nvSpPr>
        <p:spPr>
          <a:xfrm>
            <a:off x="8591550" y="1104900"/>
            <a:ext cx="11239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88" dirty="0"/>
          </a:p>
        </p:txBody>
      </p:sp>
      <p:sp>
        <p:nvSpPr>
          <p:cNvPr id="81" name="Text 78"/>
          <p:cNvSpPr/>
          <p:nvPr/>
        </p:nvSpPr>
        <p:spPr>
          <a:xfrm>
            <a:off x="9677400" y="1104900"/>
            <a:ext cx="1028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788" dirty="0"/>
          </a:p>
        </p:txBody>
      </p:sp>
      <p:sp>
        <p:nvSpPr>
          <p:cNvPr id="82" name="Text 79"/>
          <p:cNvSpPr/>
          <p:nvPr/>
        </p:nvSpPr>
        <p:spPr>
          <a:xfrm>
            <a:off x="10744200" y="1104900"/>
            <a:ext cx="11239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88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rate</a:t>
            </a:r>
            <a:endParaRPr lang="en-US" sz="788" dirty="0"/>
          </a:p>
        </p:txBody>
      </p:sp>
      <p:sp>
        <p:nvSpPr>
          <p:cNvPr id="83" name="Shape 80"/>
          <p:cNvSpPr/>
          <p:nvPr/>
        </p:nvSpPr>
        <p:spPr>
          <a:xfrm>
            <a:off x="6280100" y="1585913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4" name="Text 81"/>
          <p:cNvSpPr/>
          <p:nvPr/>
        </p:nvSpPr>
        <p:spPr>
          <a:xfrm>
            <a:off x="6318200" y="1409700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Human Services</a:t>
            </a:r>
            <a:endParaRPr lang="en-US" sz="863" dirty="0"/>
          </a:p>
        </p:txBody>
      </p:sp>
      <p:sp>
        <p:nvSpPr>
          <p:cNvPr id="85" name="Shape 82"/>
          <p:cNvSpPr/>
          <p:nvPr/>
        </p:nvSpPr>
        <p:spPr>
          <a:xfrm>
            <a:off x="8448675" y="1435894"/>
            <a:ext cx="76200" cy="76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86" name="Text 83"/>
          <p:cNvSpPr/>
          <p:nvPr/>
        </p:nvSpPr>
        <p:spPr>
          <a:xfrm>
            <a:off x="8582025" y="1409700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63" dirty="0"/>
          </a:p>
        </p:txBody>
      </p:sp>
      <p:sp>
        <p:nvSpPr>
          <p:cNvPr id="87" name="Text 84"/>
          <p:cNvSpPr/>
          <p:nvPr/>
        </p:nvSpPr>
        <p:spPr>
          <a:xfrm>
            <a:off x="9534525" y="1409700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370,987</a:t>
            </a:r>
            <a:endParaRPr lang="en-US" sz="863" dirty="0"/>
          </a:p>
        </p:txBody>
      </p:sp>
      <p:sp>
        <p:nvSpPr>
          <p:cNvPr id="88" name="Text 85"/>
          <p:cNvSpPr/>
          <p:nvPr/>
        </p:nvSpPr>
        <p:spPr>
          <a:xfrm>
            <a:off x="10601325" y="1409700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863" dirty="0"/>
          </a:p>
        </p:txBody>
      </p:sp>
      <p:sp>
        <p:nvSpPr>
          <p:cNvPr id="89" name="Shape 86"/>
          <p:cNvSpPr/>
          <p:nvPr/>
        </p:nvSpPr>
        <p:spPr>
          <a:xfrm>
            <a:off x="6280100" y="1819275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0" name="Text 87"/>
          <p:cNvSpPr/>
          <p:nvPr/>
        </p:nvSpPr>
        <p:spPr>
          <a:xfrm>
            <a:off x="6318200" y="1643063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– Air Force</a:t>
            </a:r>
            <a:endParaRPr lang="en-US" sz="863" dirty="0"/>
          </a:p>
        </p:txBody>
      </p:sp>
      <p:sp>
        <p:nvSpPr>
          <p:cNvPr id="91" name="Shape 88"/>
          <p:cNvSpPr/>
          <p:nvPr/>
        </p:nvSpPr>
        <p:spPr>
          <a:xfrm>
            <a:off x="8448675" y="1669256"/>
            <a:ext cx="76200" cy="7620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92" name="Text 89"/>
          <p:cNvSpPr/>
          <p:nvPr/>
        </p:nvSpPr>
        <p:spPr>
          <a:xfrm>
            <a:off x="8582025" y="1643063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63" dirty="0"/>
          </a:p>
        </p:txBody>
      </p:sp>
      <p:sp>
        <p:nvSpPr>
          <p:cNvPr id="93" name="Text 90"/>
          <p:cNvSpPr/>
          <p:nvPr/>
        </p:nvSpPr>
        <p:spPr>
          <a:xfrm>
            <a:off x="9534525" y="1643063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271,210</a:t>
            </a:r>
            <a:endParaRPr lang="en-US" sz="863" dirty="0"/>
          </a:p>
        </p:txBody>
      </p:sp>
      <p:sp>
        <p:nvSpPr>
          <p:cNvPr id="94" name="Text 91"/>
          <p:cNvSpPr/>
          <p:nvPr/>
        </p:nvSpPr>
        <p:spPr>
          <a:xfrm>
            <a:off x="10601325" y="1643063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863" dirty="0"/>
          </a:p>
        </p:txBody>
      </p:sp>
      <p:sp>
        <p:nvSpPr>
          <p:cNvPr id="95" name="Shape 92"/>
          <p:cNvSpPr/>
          <p:nvPr/>
        </p:nvSpPr>
        <p:spPr>
          <a:xfrm>
            <a:off x="6280100" y="2052637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6" name="Text 93"/>
          <p:cNvSpPr/>
          <p:nvPr/>
        </p:nvSpPr>
        <p:spPr>
          <a:xfrm>
            <a:off x="6318200" y="1876425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– Navy</a:t>
            </a:r>
            <a:endParaRPr lang="en-US" sz="863" dirty="0"/>
          </a:p>
        </p:txBody>
      </p:sp>
      <p:sp>
        <p:nvSpPr>
          <p:cNvPr id="97" name="Shape 94"/>
          <p:cNvSpPr/>
          <p:nvPr/>
        </p:nvSpPr>
        <p:spPr>
          <a:xfrm>
            <a:off x="8448675" y="1902619"/>
            <a:ext cx="76200" cy="7620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98" name="Text 95"/>
          <p:cNvSpPr/>
          <p:nvPr/>
        </p:nvSpPr>
        <p:spPr>
          <a:xfrm>
            <a:off x="8582025" y="1876425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63" dirty="0"/>
          </a:p>
        </p:txBody>
      </p:sp>
      <p:sp>
        <p:nvSpPr>
          <p:cNvPr id="99" name="Text 96"/>
          <p:cNvSpPr/>
          <p:nvPr/>
        </p:nvSpPr>
        <p:spPr>
          <a:xfrm>
            <a:off x="9534525" y="1876425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239,745</a:t>
            </a:r>
            <a:endParaRPr lang="en-US" sz="863" dirty="0"/>
          </a:p>
        </p:txBody>
      </p:sp>
      <p:sp>
        <p:nvSpPr>
          <p:cNvPr id="100" name="Text 97"/>
          <p:cNvSpPr/>
          <p:nvPr/>
        </p:nvSpPr>
        <p:spPr>
          <a:xfrm>
            <a:off x="10601325" y="1876425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863" dirty="0"/>
          </a:p>
        </p:txBody>
      </p:sp>
      <p:sp>
        <p:nvSpPr>
          <p:cNvPr id="101" name="Shape 98"/>
          <p:cNvSpPr/>
          <p:nvPr/>
        </p:nvSpPr>
        <p:spPr>
          <a:xfrm>
            <a:off x="6280100" y="2286000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2" name="Text 99"/>
          <p:cNvSpPr/>
          <p:nvPr/>
        </p:nvSpPr>
        <p:spPr>
          <a:xfrm>
            <a:off x="6318200" y="2109788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– Army</a:t>
            </a:r>
            <a:endParaRPr lang="en-US" sz="863" dirty="0"/>
          </a:p>
        </p:txBody>
      </p:sp>
      <p:sp>
        <p:nvSpPr>
          <p:cNvPr id="103" name="Shape 100"/>
          <p:cNvSpPr/>
          <p:nvPr/>
        </p:nvSpPr>
        <p:spPr>
          <a:xfrm>
            <a:off x="8448675" y="2135981"/>
            <a:ext cx="76200" cy="7620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104" name="Text 101"/>
          <p:cNvSpPr/>
          <p:nvPr/>
        </p:nvSpPr>
        <p:spPr>
          <a:xfrm>
            <a:off x="8582025" y="2109788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63" dirty="0"/>
          </a:p>
        </p:txBody>
      </p:sp>
      <p:sp>
        <p:nvSpPr>
          <p:cNvPr id="105" name="Text 102"/>
          <p:cNvSpPr/>
          <p:nvPr/>
        </p:nvSpPr>
        <p:spPr>
          <a:xfrm>
            <a:off x="9534525" y="2109788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154,211</a:t>
            </a:r>
            <a:endParaRPr lang="en-US" sz="863" dirty="0"/>
          </a:p>
        </p:txBody>
      </p:sp>
      <p:sp>
        <p:nvSpPr>
          <p:cNvPr id="106" name="Text 103"/>
          <p:cNvSpPr/>
          <p:nvPr/>
        </p:nvSpPr>
        <p:spPr>
          <a:xfrm>
            <a:off x="10601325" y="2109788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863" dirty="0"/>
          </a:p>
        </p:txBody>
      </p:sp>
      <p:sp>
        <p:nvSpPr>
          <p:cNvPr id="107" name="Shape 104"/>
          <p:cNvSpPr/>
          <p:nvPr/>
        </p:nvSpPr>
        <p:spPr>
          <a:xfrm>
            <a:off x="6280100" y="2519363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8" name="Text 105"/>
          <p:cNvSpPr/>
          <p:nvPr/>
        </p:nvSpPr>
        <p:spPr>
          <a:xfrm>
            <a:off x="6318200" y="2343150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</a:t>
            </a:r>
            <a:endParaRPr lang="en-US" sz="863" dirty="0"/>
          </a:p>
        </p:txBody>
      </p:sp>
      <p:sp>
        <p:nvSpPr>
          <p:cNvPr id="109" name="Shape 106"/>
          <p:cNvSpPr/>
          <p:nvPr/>
        </p:nvSpPr>
        <p:spPr>
          <a:xfrm>
            <a:off x="8448675" y="2369344"/>
            <a:ext cx="76200" cy="76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0" name="Text 107"/>
          <p:cNvSpPr/>
          <p:nvPr/>
        </p:nvSpPr>
        <p:spPr>
          <a:xfrm>
            <a:off x="8582025" y="2343150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63" dirty="0"/>
          </a:p>
        </p:txBody>
      </p:sp>
      <p:sp>
        <p:nvSpPr>
          <p:cNvPr id="111" name="Text 108"/>
          <p:cNvSpPr/>
          <p:nvPr/>
        </p:nvSpPr>
        <p:spPr>
          <a:xfrm>
            <a:off x="9534525" y="2343150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57,565</a:t>
            </a:r>
            <a:endParaRPr lang="en-US" sz="863" dirty="0"/>
          </a:p>
        </p:txBody>
      </p:sp>
      <p:sp>
        <p:nvSpPr>
          <p:cNvPr id="112" name="Text 109"/>
          <p:cNvSpPr/>
          <p:nvPr/>
        </p:nvSpPr>
        <p:spPr>
          <a:xfrm>
            <a:off x="10601325" y="2343150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863" dirty="0"/>
          </a:p>
        </p:txBody>
      </p:sp>
      <p:sp>
        <p:nvSpPr>
          <p:cNvPr id="113" name="Shape 110"/>
          <p:cNvSpPr/>
          <p:nvPr/>
        </p:nvSpPr>
        <p:spPr>
          <a:xfrm>
            <a:off x="6280100" y="2752725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4" name="Text 111"/>
          <p:cNvSpPr/>
          <p:nvPr/>
        </p:nvSpPr>
        <p:spPr>
          <a:xfrm>
            <a:off x="6318200" y="2576513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863" dirty="0"/>
          </a:p>
        </p:txBody>
      </p:sp>
      <p:sp>
        <p:nvSpPr>
          <p:cNvPr id="115" name="Shape 112"/>
          <p:cNvSpPr/>
          <p:nvPr/>
        </p:nvSpPr>
        <p:spPr>
          <a:xfrm>
            <a:off x="8448675" y="2602706"/>
            <a:ext cx="76200" cy="7620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116" name="Text 113"/>
          <p:cNvSpPr/>
          <p:nvPr/>
        </p:nvSpPr>
        <p:spPr>
          <a:xfrm>
            <a:off x="8582025" y="2576513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63" dirty="0"/>
          </a:p>
        </p:txBody>
      </p:sp>
      <p:sp>
        <p:nvSpPr>
          <p:cNvPr id="117" name="Text 114"/>
          <p:cNvSpPr/>
          <p:nvPr/>
        </p:nvSpPr>
        <p:spPr>
          <a:xfrm>
            <a:off x="9534525" y="2576513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56,960</a:t>
            </a:r>
            <a:endParaRPr lang="en-US" sz="863" dirty="0"/>
          </a:p>
        </p:txBody>
      </p:sp>
      <p:sp>
        <p:nvSpPr>
          <p:cNvPr id="118" name="Text 115"/>
          <p:cNvSpPr/>
          <p:nvPr/>
        </p:nvSpPr>
        <p:spPr>
          <a:xfrm>
            <a:off x="10601325" y="2576513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863" dirty="0"/>
          </a:p>
        </p:txBody>
      </p:sp>
      <p:sp>
        <p:nvSpPr>
          <p:cNvPr id="119" name="Shape 116"/>
          <p:cNvSpPr/>
          <p:nvPr/>
        </p:nvSpPr>
        <p:spPr>
          <a:xfrm>
            <a:off x="6280100" y="2986088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0" name="Text 117"/>
          <p:cNvSpPr/>
          <p:nvPr/>
        </p:nvSpPr>
        <p:spPr>
          <a:xfrm>
            <a:off x="6318200" y="2809875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</a:t>
            </a:r>
            <a:endParaRPr lang="en-US" sz="863" dirty="0"/>
          </a:p>
        </p:txBody>
      </p:sp>
      <p:sp>
        <p:nvSpPr>
          <p:cNvPr id="121" name="Shape 118"/>
          <p:cNvSpPr/>
          <p:nvPr/>
        </p:nvSpPr>
        <p:spPr>
          <a:xfrm>
            <a:off x="8448675" y="2836069"/>
            <a:ext cx="76200" cy="76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2" name="Text 119"/>
          <p:cNvSpPr/>
          <p:nvPr/>
        </p:nvSpPr>
        <p:spPr>
          <a:xfrm>
            <a:off x="8582025" y="2809875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63" dirty="0"/>
          </a:p>
        </p:txBody>
      </p:sp>
      <p:sp>
        <p:nvSpPr>
          <p:cNvPr id="123" name="Text 120"/>
          <p:cNvSpPr/>
          <p:nvPr/>
        </p:nvSpPr>
        <p:spPr>
          <a:xfrm>
            <a:off x="9534525" y="2809875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56,934</a:t>
            </a:r>
            <a:endParaRPr lang="en-US" sz="863" dirty="0"/>
          </a:p>
        </p:txBody>
      </p:sp>
      <p:sp>
        <p:nvSpPr>
          <p:cNvPr id="124" name="Text 121"/>
          <p:cNvSpPr/>
          <p:nvPr/>
        </p:nvSpPr>
        <p:spPr>
          <a:xfrm>
            <a:off x="10601325" y="2809875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863" dirty="0"/>
          </a:p>
        </p:txBody>
      </p:sp>
      <p:sp>
        <p:nvSpPr>
          <p:cNvPr id="125" name="Shape 122"/>
          <p:cNvSpPr/>
          <p:nvPr/>
        </p:nvSpPr>
        <p:spPr>
          <a:xfrm>
            <a:off x="6280100" y="3219450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6" name="Text 123"/>
          <p:cNvSpPr/>
          <p:nvPr/>
        </p:nvSpPr>
        <p:spPr>
          <a:xfrm>
            <a:off x="6318200" y="3043238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</a:t>
            </a:r>
            <a:endParaRPr lang="en-US" sz="863" dirty="0"/>
          </a:p>
        </p:txBody>
      </p:sp>
      <p:sp>
        <p:nvSpPr>
          <p:cNvPr id="127" name="Shape 124"/>
          <p:cNvSpPr/>
          <p:nvPr/>
        </p:nvSpPr>
        <p:spPr>
          <a:xfrm>
            <a:off x="8448675" y="3069431"/>
            <a:ext cx="76200" cy="7620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128" name="Text 125"/>
          <p:cNvSpPr/>
          <p:nvPr/>
        </p:nvSpPr>
        <p:spPr>
          <a:xfrm>
            <a:off x="8582025" y="3043238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63" dirty="0"/>
          </a:p>
        </p:txBody>
      </p:sp>
      <p:sp>
        <p:nvSpPr>
          <p:cNvPr id="129" name="Text 126"/>
          <p:cNvSpPr/>
          <p:nvPr/>
        </p:nvSpPr>
        <p:spPr>
          <a:xfrm>
            <a:off x="9534525" y="3043238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55,853</a:t>
            </a:r>
            <a:endParaRPr lang="en-US" sz="863" dirty="0"/>
          </a:p>
        </p:txBody>
      </p:sp>
      <p:sp>
        <p:nvSpPr>
          <p:cNvPr id="130" name="Text 127"/>
          <p:cNvSpPr/>
          <p:nvPr/>
        </p:nvSpPr>
        <p:spPr>
          <a:xfrm>
            <a:off x="10601325" y="3043238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863" dirty="0"/>
          </a:p>
        </p:txBody>
      </p:sp>
      <p:sp>
        <p:nvSpPr>
          <p:cNvPr id="131" name="Shape 128"/>
          <p:cNvSpPr/>
          <p:nvPr/>
        </p:nvSpPr>
        <p:spPr>
          <a:xfrm>
            <a:off x="6280100" y="3452813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2" name="Text 129"/>
          <p:cNvSpPr/>
          <p:nvPr/>
        </p:nvSpPr>
        <p:spPr>
          <a:xfrm>
            <a:off x="6318200" y="3276600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Homeland Security</a:t>
            </a:r>
            <a:endParaRPr lang="en-US" sz="863" dirty="0"/>
          </a:p>
        </p:txBody>
      </p:sp>
      <p:sp>
        <p:nvSpPr>
          <p:cNvPr id="133" name="Shape 130"/>
          <p:cNvSpPr/>
          <p:nvPr/>
        </p:nvSpPr>
        <p:spPr>
          <a:xfrm>
            <a:off x="8448675" y="3302794"/>
            <a:ext cx="76200" cy="7620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134" name="Text 131"/>
          <p:cNvSpPr/>
          <p:nvPr/>
        </p:nvSpPr>
        <p:spPr>
          <a:xfrm>
            <a:off x="8582025" y="3276600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63" dirty="0"/>
          </a:p>
        </p:txBody>
      </p:sp>
      <p:sp>
        <p:nvSpPr>
          <p:cNvPr id="135" name="Text 132"/>
          <p:cNvSpPr/>
          <p:nvPr/>
        </p:nvSpPr>
        <p:spPr>
          <a:xfrm>
            <a:off x="9534525" y="3276600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52,392</a:t>
            </a:r>
            <a:endParaRPr lang="en-US" sz="863" dirty="0"/>
          </a:p>
        </p:txBody>
      </p:sp>
      <p:sp>
        <p:nvSpPr>
          <p:cNvPr id="136" name="Text 133"/>
          <p:cNvSpPr/>
          <p:nvPr/>
        </p:nvSpPr>
        <p:spPr>
          <a:xfrm>
            <a:off x="10601325" y="3276600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863" dirty="0"/>
          </a:p>
        </p:txBody>
      </p:sp>
      <p:sp>
        <p:nvSpPr>
          <p:cNvPr id="137" name="Shape 134"/>
          <p:cNvSpPr/>
          <p:nvPr/>
        </p:nvSpPr>
        <p:spPr>
          <a:xfrm>
            <a:off x="6280100" y="3686175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8" name="Text 135"/>
          <p:cNvSpPr/>
          <p:nvPr/>
        </p:nvSpPr>
        <p:spPr>
          <a:xfrm>
            <a:off x="6318200" y="3509963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</a:t>
            </a:r>
            <a:endParaRPr lang="en-US" sz="863" dirty="0"/>
          </a:p>
        </p:txBody>
      </p:sp>
      <p:sp>
        <p:nvSpPr>
          <p:cNvPr id="139" name="Shape 136"/>
          <p:cNvSpPr/>
          <p:nvPr/>
        </p:nvSpPr>
        <p:spPr>
          <a:xfrm>
            <a:off x="8448675" y="3536156"/>
            <a:ext cx="76200" cy="7620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140" name="Text 137"/>
          <p:cNvSpPr/>
          <p:nvPr/>
        </p:nvSpPr>
        <p:spPr>
          <a:xfrm>
            <a:off x="8582025" y="3509963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63" dirty="0"/>
          </a:p>
        </p:txBody>
      </p:sp>
      <p:sp>
        <p:nvSpPr>
          <p:cNvPr id="141" name="Text 138"/>
          <p:cNvSpPr/>
          <p:nvPr/>
        </p:nvSpPr>
        <p:spPr>
          <a:xfrm>
            <a:off x="9534525" y="3509963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46,864</a:t>
            </a:r>
            <a:endParaRPr lang="en-US" sz="863" dirty="0"/>
          </a:p>
        </p:txBody>
      </p:sp>
      <p:sp>
        <p:nvSpPr>
          <p:cNvPr id="142" name="Text 139"/>
          <p:cNvSpPr/>
          <p:nvPr/>
        </p:nvSpPr>
        <p:spPr>
          <a:xfrm>
            <a:off x="10601325" y="3509963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863" dirty="0"/>
          </a:p>
        </p:txBody>
      </p:sp>
      <p:sp>
        <p:nvSpPr>
          <p:cNvPr id="143" name="Shape 140"/>
          <p:cNvSpPr/>
          <p:nvPr/>
        </p:nvSpPr>
        <p:spPr>
          <a:xfrm>
            <a:off x="6280100" y="3919537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4" name="Text 141"/>
          <p:cNvSpPr/>
          <p:nvPr/>
        </p:nvSpPr>
        <p:spPr>
          <a:xfrm>
            <a:off x="6318200" y="3743325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</a:t>
            </a:r>
            <a:endParaRPr lang="en-US" sz="863" dirty="0"/>
          </a:p>
        </p:txBody>
      </p:sp>
      <p:sp>
        <p:nvSpPr>
          <p:cNvPr id="145" name="Shape 142"/>
          <p:cNvSpPr/>
          <p:nvPr/>
        </p:nvSpPr>
        <p:spPr>
          <a:xfrm>
            <a:off x="8448675" y="3769519"/>
            <a:ext cx="76200" cy="76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46" name="Text 143"/>
          <p:cNvSpPr/>
          <p:nvPr/>
        </p:nvSpPr>
        <p:spPr>
          <a:xfrm>
            <a:off x="8582025" y="3743325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63" dirty="0"/>
          </a:p>
        </p:txBody>
      </p:sp>
      <p:sp>
        <p:nvSpPr>
          <p:cNvPr id="147" name="Text 144"/>
          <p:cNvSpPr/>
          <p:nvPr/>
        </p:nvSpPr>
        <p:spPr>
          <a:xfrm>
            <a:off x="9534525" y="3743325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43,535</a:t>
            </a:r>
            <a:endParaRPr lang="en-US" sz="863" dirty="0"/>
          </a:p>
        </p:txBody>
      </p:sp>
      <p:sp>
        <p:nvSpPr>
          <p:cNvPr id="148" name="Text 145"/>
          <p:cNvSpPr/>
          <p:nvPr/>
        </p:nvSpPr>
        <p:spPr>
          <a:xfrm>
            <a:off x="10601325" y="3743325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863" dirty="0"/>
          </a:p>
        </p:txBody>
      </p:sp>
      <p:sp>
        <p:nvSpPr>
          <p:cNvPr id="149" name="Shape 146"/>
          <p:cNvSpPr/>
          <p:nvPr/>
        </p:nvSpPr>
        <p:spPr>
          <a:xfrm>
            <a:off x="6280100" y="4152900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0" name="Text 147"/>
          <p:cNvSpPr/>
          <p:nvPr/>
        </p:nvSpPr>
        <p:spPr>
          <a:xfrm>
            <a:off x="6318200" y="3976687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863" dirty="0"/>
          </a:p>
        </p:txBody>
      </p:sp>
      <p:sp>
        <p:nvSpPr>
          <p:cNvPr id="151" name="Shape 148"/>
          <p:cNvSpPr/>
          <p:nvPr/>
        </p:nvSpPr>
        <p:spPr>
          <a:xfrm>
            <a:off x="8448675" y="4002881"/>
            <a:ext cx="76200" cy="7620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152" name="Text 149"/>
          <p:cNvSpPr/>
          <p:nvPr/>
        </p:nvSpPr>
        <p:spPr>
          <a:xfrm>
            <a:off x="8582025" y="3976687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63" dirty="0"/>
          </a:p>
        </p:txBody>
      </p:sp>
      <p:sp>
        <p:nvSpPr>
          <p:cNvPr id="153" name="Text 150"/>
          <p:cNvSpPr/>
          <p:nvPr/>
        </p:nvSpPr>
        <p:spPr>
          <a:xfrm>
            <a:off x="9534525" y="3976687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42,022</a:t>
            </a:r>
            <a:endParaRPr lang="en-US" sz="863" dirty="0"/>
          </a:p>
        </p:txBody>
      </p:sp>
      <p:sp>
        <p:nvSpPr>
          <p:cNvPr id="154" name="Text 151"/>
          <p:cNvSpPr/>
          <p:nvPr/>
        </p:nvSpPr>
        <p:spPr>
          <a:xfrm>
            <a:off x="10601325" y="3976687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863" dirty="0"/>
          </a:p>
        </p:txBody>
      </p:sp>
      <p:sp>
        <p:nvSpPr>
          <p:cNvPr id="155" name="Shape 152"/>
          <p:cNvSpPr/>
          <p:nvPr/>
        </p:nvSpPr>
        <p:spPr>
          <a:xfrm>
            <a:off x="6280100" y="4386263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6" name="Text 153"/>
          <p:cNvSpPr/>
          <p:nvPr/>
        </p:nvSpPr>
        <p:spPr>
          <a:xfrm>
            <a:off x="6318200" y="4210050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</a:t>
            </a:r>
            <a:endParaRPr lang="en-US" sz="863" dirty="0"/>
          </a:p>
        </p:txBody>
      </p:sp>
      <p:sp>
        <p:nvSpPr>
          <p:cNvPr id="157" name="Shape 154"/>
          <p:cNvSpPr/>
          <p:nvPr/>
        </p:nvSpPr>
        <p:spPr>
          <a:xfrm>
            <a:off x="8448675" y="4236244"/>
            <a:ext cx="76200" cy="7620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158" name="Text 155"/>
          <p:cNvSpPr/>
          <p:nvPr/>
        </p:nvSpPr>
        <p:spPr>
          <a:xfrm>
            <a:off x="8582025" y="4210050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63" dirty="0"/>
          </a:p>
        </p:txBody>
      </p:sp>
      <p:sp>
        <p:nvSpPr>
          <p:cNvPr id="159" name="Text 156"/>
          <p:cNvSpPr/>
          <p:nvPr/>
        </p:nvSpPr>
        <p:spPr>
          <a:xfrm>
            <a:off x="9534525" y="4210050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41,512</a:t>
            </a:r>
            <a:endParaRPr lang="en-US" sz="863" dirty="0"/>
          </a:p>
        </p:txBody>
      </p:sp>
      <p:sp>
        <p:nvSpPr>
          <p:cNvPr id="160" name="Text 157"/>
          <p:cNvSpPr/>
          <p:nvPr/>
        </p:nvSpPr>
        <p:spPr>
          <a:xfrm>
            <a:off x="10601325" y="4210050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863" dirty="0"/>
          </a:p>
        </p:txBody>
      </p:sp>
      <p:sp>
        <p:nvSpPr>
          <p:cNvPr id="161" name="Shape 158"/>
          <p:cNvSpPr/>
          <p:nvPr/>
        </p:nvSpPr>
        <p:spPr>
          <a:xfrm>
            <a:off x="6280100" y="4619625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2" name="Text 159"/>
          <p:cNvSpPr/>
          <p:nvPr/>
        </p:nvSpPr>
        <p:spPr>
          <a:xfrm>
            <a:off x="6318200" y="4443413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863" dirty="0"/>
          </a:p>
        </p:txBody>
      </p:sp>
      <p:sp>
        <p:nvSpPr>
          <p:cNvPr id="163" name="Shape 160"/>
          <p:cNvSpPr/>
          <p:nvPr/>
        </p:nvSpPr>
        <p:spPr>
          <a:xfrm>
            <a:off x="8448675" y="4469606"/>
            <a:ext cx="76200" cy="76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4" name="Text 161"/>
          <p:cNvSpPr/>
          <p:nvPr/>
        </p:nvSpPr>
        <p:spPr>
          <a:xfrm>
            <a:off x="8582025" y="4443413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63" dirty="0"/>
          </a:p>
        </p:txBody>
      </p:sp>
      <p:sp>
        <p:nvSpPr>
          <p:cNvPr id="165" name="Text 162"/>
          <p:cNvSpPr/>
          <p:nvPr/>
        </p:nvSpPr>
        <p:spPr>
          <a:xfrm>
            <a:off x="9534525" y="4443413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40,638</a:t>
            </a:r>
            <a:endParaRPr lang="en-US" sz="863" dirty="0"/>
          </a:p>
        </p:txBody>
      </p:sp>
      <p:sp>
        <p:nvSpPr>
          <p:cNvPr id="166" name="Text 163"/>
          <p:cNvSpPr/>
          <p:nvPr/>
        </p:nvSpPr>
        <p:spPr>
          <a:xfrm>
            <a:off x="10601325" y="4443413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863" dirty="0"/>
          </a:p>
        </p:txBody>
      </p:sp>
      <p:sp>
        <p:nvSpPr>
          <p:cNvPr id="167" name="Shape 164"/>
          <p:cNvSpPr/>
          <p:nvPr/>
        </p:nvSpPr>
        <p:spPr>
          <a:xfrm>
            <a:off x="6280100" y="4852988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8" name="Text 165"/>
          <p:cNvSpPr/>
          <p:nvPr/>
        </p:nvSpPr>
        <p:spPr>
          <a:xfrm>
            <a:off x="6318200" y="4676775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</a:t>
            </a:r>
            <a:endParaRPr lang="en-US" sz="863" dirty="0"/>
          </a:p>
        </p:txBody>
      </p:sp>
      <p:sp>
        <p:nvSpPr>
          <p:cNvPr id="169" name="Shape 166"/>
          <p:cNvSpPr/>
          <p:nvPr/>
        </p:nvSpPr>
        <p:spPr>
          <a:xfrm>
            <a:off x="8448675" y="4702969"/>
            <a:ext cx="76200" cy="7620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170" name="Text 167"/>
          <p:cNvSpPr/>
          <p:nvPr/>
        </p:nvSpPr>
        <p:spPr>
          <a:xfrm>
            <a:off x="8582025" y="4676775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63" dirty="0"/>
          </a:p>
        </p:txBody>
      </p:sp>
      <p:sp>
        <p:nvSpPr>
          <p:cNvPr id="171" name="Text 168"/>
          <p:cNvSpPr/>
          <p:nvPr/>
        </p:nvSpPr>
        <p:spPr>
          <a:xfrm>
            <a:off x="9534525" y="4676775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37,320</a:t>
            </a:r>
            <a:endParaRPr lang="en-US" sz="863" dirty="0"/>
          </a:p>
        </p:txBody>
      </p:sp>
      <p:sp>
        <p:nvSpPr>
          <p:cNvPr id="172" name="Text 169"/>
          <p:cNvSpPr/>
          <p:nvPr/>
        </p:nvSpPr>
        <p:spPr>
          <a:xfrm>
            <a:off x="10601325" y="4676775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863" dirty="0"/>
          </a:p>
        </p:txBody>
      </p:sp>
      <p:sp>
        <p:nvSpPr>
          <p:cNvPr id="173" name="Shape 170"/>
          <p:cNvSpPr/>
          <p:nvPr/>
        </p:nvSpPr>
        <p:spPr>
          <a:xfrm>
            <a:off x="6280100" y="5086350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4" name="Text 171"/>
          <p:cNvSpPr/>
          <p:nvPr/>
        </p:nvSpPr>
        <p:spPr>
          <a:xfrm>
            <a:off x="6318200" y="4910138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63" dirty="0"/>
          </a:p>
        </p:txBody>
      </p:sp>
      <p:sp>
        <p:nvSpPr>
          <p:cNvPr id="175" name="Shape 172"/>
          <p:cNvSpPr/>
          <p:nvPr/>
        </p:nvSpPr>
        <p:spPr>
          <a:xfrm>
            <a:off x="8448675" y="4936331"/>
            <a:ext cx="76200" cy="7620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176" name="Text 173"/>
          <p:cNvSpPr/>
          <p:nvPr/>
        </p:nvSpPr>
        <p:spPr>
          <a:xfrm>
            <a:off x="8582025" y="4910138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63" dirty="0"/>
          </a:p>
        </p:txBody>
      </p:sp>
      <p:sp>
        <p:nvSpPr>
          <p:cNvPr id="177" name="Text 174"/>
          <p:cNvSpPr/>
          <p:nvPr/>
        </p:nvSpPr>
        <p:spPr>
          <a:xfrm>
            <a:off x="9534525" y="4910138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35,073</a:t>
            </a:r>
            <a:endParaRPr lang="en-US" sz="863" dirty="0"/>
          </a:p>
        </p:txBody>
      </p:sp>
      <p:sp>
        <p:nvSpPr>
          <p:cNvPr id="178" name="Text 175"/>
          <p:cNvSpPr/>
          <p:nvPr/>
        </p:nvSpPr>
        <p:spPr>
          <a:xfrm>
            <a:off x="10601325" y="4910138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863" dirty="0"/>
          </a:p>
        </p:txBody>
      </p:sp>
      <p:sp>
        <p:nvSpPr>
          <p:cNvPr id="179" name="Shape 176"/>
          <p:cNvSpPr/>
          <p:nvPr/>
        </p:nvSpPr>
        <p:spPr>
          <a:xfrm>
            <a:off x="6280100" y="5319713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0" name="Text 177"/>
          <p:cNvSpPr/>
          <p:nvPr/>
        </p:nvSpPr>
        <p:spPr>
          <a:xfrm>
            <a:off x="6318200" y="5143500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</a:t>
            </a:r>
            <a:endParaRPr lang="en-US" sz="863" dirty="0"/>
          </a:p>
        </p:txBody>
      </p:sp>
      <p:sp>
        <p:nvSpPr>
          <p:cNvPr id="181" name="Shape 178"/>
          <p:cNvSpPr/>
          <p:nvPr/>
        </p:nvSpPr>
        <p:spPr>
          <a:xfrm>
            <a:off x="8448675" y="5169694"/>
            <a:ext cx="76200" cy="7620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182" name="Text 179"/>
          <p:cNvSpPr/>
          <p:nvPr/>
        </p:nvSpPr>
        <p:spPr>
          <a:xfrm>
            <a:off x="8582025" y="5143500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863" dirty="0"/>
          </a:p>
        </p:txBody>
      </p:sp>
      <p:sp>
        <p:nvSpPr>
          <p:cNvPr id="183" name="Text 180"/>
          <p:cNvSpPr/>
          <p:nvPr/>
        </p:nvSpPr>
        <p:spPr>
          <a:xfrm>
            <a:off x="9534525" y="5143500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30,186</a:t>
            </a:r>
            <a:endParaRPr lang="en-US" sz="863" dirty="0"/>
          </a:p>
        </p:txBody>
      </p:sp>
      <p:sp>
        <p:nvSpPr>
          <p:cNvPr id="184" name="Text 181"/>
          <p:cNvSpPr/>
          <p:nvPr/>
        </p:nvSpPr>
        <p:spPr>
          <a:xfrm>
            <a:off x="10601325" y="5143500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863" dirty="0"/>
          </a:p>
        </p:txBody>
      </p:sp>
      <p:sp>
        <p:nvSpPr>
          <p:cNvPr id="185" name="Shape 182"/>
          <p:cNvSpPr/>
          <p:nvPr/>
        </p:nvSpPr>
        <p:spPr>
          <a:xfrm>
            <a:off x="6280100" y="5553075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6" name="Text 183"/>
          <p:cNvSpPr/>
          <p:nvPr/>
        </p:nvSpPr>
        <p:spPr>
          <a:xfrm>
            <a:off x="6318200" y="5376863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863" dirty="0"/>
          </a:p>
        </p:txBody>
      </p:sp>
      <p:sp>
        <p:nvSpPr>
          <p:cNvPr id="187" name="Shape 184"/>
          <p:cNvSpPr/>
          <p:nvPr/>
        </p:nvSpPr>
        <p:spPr>
          <a:xfrm>
            <a:off x="8448675" y="5403056"/>
            <a:ext cx="76200" cy="7620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188" name="Text 185"/>
          <p:cNvSpPr/>
          <p:nvPr/>
        </p:nvSpPr>
        <p:spPr>
          <a:xfrm>
            <a:off x="8582025" y="5376863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63" dirty="0"/>
          </a:p>
        </p:txBody>
      </p:sp>
      <p:sp>
        <p:nvSpPr>
          <p:cNvPr id="189" name="Text 186"/>
          <p:cNvSpPr/>
          <p:nvPr/>
        </p:nvSpPr>
        <p:spPr>
          <a:xfrm>
            <a:off x="9534525" y="5376863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28,777</a:t>
            </a:r>
            <a:endParaRPr lang="en-US" sz="863" dirty="0"/>
          </a:p>
        </p:txBody>
      </p:sp>
      <p:sp>
        <p:nvSpPr>
          <p:cNvPr id="190" name="Text 187"/>
          <p:cNvSpPr/>
          <p:nvPr/>
        </p:nvSpPr>
        <p:spPr>
          <a:xfrm>
            <a:off x="10601325" y="5376863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863" dirty="0"/>
          </a:p>
        </p:txBody>
      </p:sp>
      <p:sp>
        <p:nvSpPr>
          <p:cNvPr id="191" name="Shape 188"/>
          <p:cNvSpPr/>
          <p:nvPr/>
        </p:nvSpPr>
        <p:spPr>
          <a:xfrm>
            <a:off x="6280100" y="5786438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2" name="Text 189"/>
          <p:cNvSpPr/>
          <p:nvPr/>
        </p:nvSpPr>
        <p:spPr>
          <a:xfrm>
            <a:off x="6318200" y="5610225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</a:t>
            </a:r>
            <a:endParaRPr lang="en-US" sz="863" dirty="0"/>
          </a:p>
        </p:txBody>
      </p:sp>
      <p:sp>
        <p:nvSpPr>
          <p:cNvPr id="193" name="Shape 190"/>
          <p:cNvSpPr/>
          <p:nvPr/>
        </p:nvSpPr>
        <p:spPr>
          <a:xfrm>
            <a:off x="8448675" y="5636419"/>
            <a:ext cx="76200" cy="7620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194" name="Text 191"/>
          <p:cNvSpPr/>
          <p:nvPr/>
        </p:nvSpPr>
        <p:spPr>
          <a:xfrm>
            <a:off x="8582025" y="5610225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63" dirty="0"/>
          </a:p>
        </p:txBody>
      </p:sp>
      <p:sp>
        <p:nvSpPr>
          <p:cNvPr id="195" name="Text 192"/>
          <p:cNvSpPr/>
          <p:nvPr/>
        </p:nvSpPr>
        <p:spPr>
          <a:xfrm>
            <a:off x="9534525" y="5610225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18,509</a:t>
            </a:r>
            <a:endParaRPr lang="en-US" sz="863" dirty="0"/>
          </a:p>
        </p:txBody>
      </p:sp>
      <p:sp>
        <p:nvSpPr>
          <p:cNvPr id="196" name="Text 193"/>
          <p:cNvSpPr/>
          <p:nvPr/>
        </p:nvSpPr>
        <p:spPr>
          <a:xfrm>
            <a:off x="10601325" y="5610225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863" dirty="0"/>
          </a:p>
        </p:txBody>
      </p:sp>
      <p:sp>
        <p:nvSpPr>
          <p:cNvPr id="197" name="Shape 194"/>
          <p:cNvSpPr/>
          <p:nvPr/>
        </p:nvSpPr>
        <p:spPr>
          <a:xfrm>
            <a:off x="6280100" y="6019800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8" name="Text 195"/>
          <p:cNvSpPr/>
          <p:nvPr/>
        </p:nvSpPr>
        <p:spPr>
          <a:xfrm>
            <a:off x="6318200" y="5843588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Veterans Affairs</a:t>
            </a:r>
            <a:endParaRPr lang="en-US" sz="863" dirty="0"/>
          </a:p>
        </p:txBody>
      </p:sp>
      <p:sp>
        <p:nvSpPr>
          <p:cNvPr id="199" name="Shape 196"/>
          <p:cNvSpPr/>
          <p:nvPr/>
        </p:nvSpPr>
        <p:spPr>
          <a:xfrm>
            <a:off x="8448675" y="5869781"/>
            <a:ext cx="76200" cy="76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00" name="Text 197"/>
          <p:cNvSpPr/>
          <p:nvPr/>
        </p:nvSpPr>
        <p:spPr>
          <a:xfrm>
            <a:off x="8582025" y="5843588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63" dirty="0"/>
          </a:p>
        </p:txBody>
      </p:sp>
      <p:sp>
        <p:nvSpPr>
          <p:cNvPr id="201" name="Text 198"/>
          <p:cNvSpPr/>
          <p:nvPr/>
        </p:nvSpPr>
        <p:spPr>
          <a:xfrm>
            <a:off x="9534525" y="5843588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16,381</a:t>
            </a:r>
            <a:endParaRPr lang="en-US" sz="863" dirty="0"/>
          </a:p>
        </p:txBody>
      </p:sp>
      <p:sp>
        <p:nvSpPr>
          <p:cNvPr id="202" name="Text 199"/>
          <p:cNvSpPr/>
          <p:nvPr/>
        </p:nvSpPr>
        <p:spPr>
          <a:xfrm>
            <a:off x="10601325" y="5843588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863" dirty="0"/>
          </a:p>
        </p:txBody>
      </p:sp>
      <p:sp>
        <p:nvSpPr>
          <p:cNvPr id="203" name="Shape 200"/>
          <p:cNvSpPr/>
          <p:nvPr/>
        </p:nvSpPr>
        <p:spPr>
          <a:xfrm>
            <a:off x="6280100" y="6253163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4" name="Text 201"/>
          <p:cNvSpPr/>
          <p:nvPr/>
        </p:nvSpPr>
        <p:spPr>
          <a:xfrm>
            <a:off x="6318200" y="6076950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Security Admin.</a:t>
            </a:r>
            <a:endParaRPr lang="en-US" sz="863" dirty="0"/>
          </a:p>
        </p:txBody>
      </p:sp>
      <p:sp>
        <p:nvSpPr>
          <p:cNvPr id="205" name="Shape 202"/>
          <p:cNvSpPr/>
          <p:nvPr/>
        </p:nvSpPr>
        <p:spPr>
          <a:xfrm>
            <a:off x="8448675" y="6103144"/>
            <a:ext cx="76200" cy="7620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206" name="Text 203"/>
          <p:cNvSpPr/>
          <p:nvPr/>
        </p:nvSpPr>
        <p:spPr>
          <a:xfrm>
            <a:off x="8582025" y="6076950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63" dirty="0"/>
          </a:p>
        </p:txBody>
      </p:sp>
      <p:sp>
        <p:nvSpPr>
          <p:cNvPr id="207" name="Text 204"/>
          <p:cNvSpPr/>
          <p:nvPr/>
        </p:nvSpPr>
        <p:spPr>
          <a:xfrm>
            <a:off x="9534525" y="6076950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13,465</a:t>
            </a:r>
            <a:endParaRPr lang="en-US" sz="863" dirty="0"/>
          </a:p>
        </p:txBody>
      </p:sp>
      <p:sp>
        <p:nvSpPr>
          <p:cNvPr id="208" name="Text 205"/>
          <p:cNvSpPr/>
          <p:nvPr/>
        </p:nvSpPr>
        <p:spPr>
          <a:xfrm>
            <a:off x="10601325" y="6076950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863" dirty="0"/>
          </a:p>
        </p:txBody>
      </p:sp>
      <p:sp>
        <p:nvSpPr>
          <p:cNvPr id="209" name="Shape 206"/>
          <p:cNvSpPr/>
          <p:nvPr/>
        </p:nvSpPr>
        <p:spPr>
          <a:xfrm>
            <a:off x="6280100" y="6486525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10" name="Text 207"/>
          <p:cNvSpPr/>
          <p:nvPr/>
        </p:nvSpPr>
        <p:spPr>
          <a:xfrm>
            <a:off x="6318200" y="6310313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</a:t>
            </a:r>
            <a:endParaRPr lang="en-US" sz="863" dirty="0"/>
          </a:p>
        </p:txBody>
      </p:sp>
      <p:sp>
        <p:nvSpPr>
          <p:cNvPr id="211" name="Shape 208"/>
          <p:cNvSpPr/>
          <p:nvPr/>
        </p:nvSpPr>
        <p:spPr>
          <a:xfrm>
            <a:off x="8448675" y="6336506"/>
            <a:ext cx="76200" cy="7620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212" name="Text 209"/>
          <p:cNvSpPr/>
          <p:nvPr/>
        </p:nvSpPr>
        <p:spPr>
          <a:xfrm>
            <a:off x="8582025" y="6310313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63" dirty="0"/>
          </a:p>
        </p:txBody>
      </p:sp>
      <p:sp>
        <p:nvSpPr>
          <p:cNvPr id="213" name="Text 210"/>
          <p:cNvSpPr/>
          <p:nvPr/>
        </p:nvSpPr>
        <p:spPr>
          <a:xfrm>
            <a:off x="9534525" y="6310313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12,920</a:t>
            </a:r>
            <a:endParaRPr lang="en-US" sz="863" dirty="0"/>
          </a:p>
        </p:txBody>
      </p:sp>
      <p:sp>
        <p:nvSpPr>
          <p:cNvPr id="214" name="Text 211"/>
          <p:cNvSpPr/>
          <p:nvPr/>
        </p:nvSpPr>
        <p:spPr>
          <a:xfrm>
            <a:off x="10601325" y="6310313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863" dirty="0"/>
          </a:p>
        </p:txBody>
      </p:sp>
      <p:sp>
        <p:nvSpPr>
          <p:cNvPr id="215" name="Shape 212"/>
          <p:cNvSpPr/>
          <p:nvPr/>
        </p:nvSpPr>
        <p:spPr>
          <a:xfrm>
            <a:off x="6280100" y="6719888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16" name="Text 213"/>
          <p:cNvSpPr/>
          <p:nvPr/>
        </p:nvSpPr>
        <p:spPr>
          <a:xfrm>
            <a:off x="6318200" y="6543675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863" dirty="0"/>
          </a:p>
        </p:txBody>
      </p:sp>
      <p:sp>
        <p:nvSpPr>
          <p:cNvPr id="217" name="Shape 214"/>
          <p:cNvSpPr/>
          <p:nvPr/>
        </p:nvSpPr>
        <p:spPr>
          <a:xfrm>
            <a:off x="8448675" y="6569869"/>
            <a:ext cx="76200" cy="7620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218" name="Text 215"/>
          <p:cNvSpPr/>
          <p:nvPr/>
        </p:nvSpPr>
        <p:spPr>
          <a:xfrm>
            <a:off x="8582025" y="6543675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863" dirty="0"/>
          </a:p>
        </p:txBody>
      </p:sp>
      <p:sp>
        <p:nvSpPr>
          <p:cNvPr id="219" name="Text 216"/>
          <p:cNvSpPr/>
          <p:nvPr/>
        </p:nvSpPr>
        <p:spPr>
          <a:xfrm>
            <a:off x="9534525" y="6543675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5,716</a:t>
            </a:r>
            <a:endParaRPr lang="en-US" sz="863" dirty="0"/>
          </a:p>
        </p:txBody>
      </p:sp>
      <p:sp>
        <p:nvSpPr>
          <p:cNvPr id="220" name="Text 217"/>
          <p:cNvSpPr/>
          <p:nvPr/>
        </p:nvSpPr>
        <p:spPr>
          <a:xfrm>
            <a:off x="10601325" y="6543675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863" dirty="0"/>
          </a:p>
        </p:txBody>
      </p:sp>
      <p:sp>
        <p:nvSpPr>
          <p:cNvPr id="221" name="Shape 218"/>
          <p:cNvSpPr/>
          <p:nvPr/>
        </p:nvSpPr>
        <p:spPr>
          <a:xfrm>
            <a:off x="6280100" y="6953250"/>
            <a:ext cx="5483275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22" name="Text 219"/>
          <p:cNvSpPr/>
          <p:nvPr/>
        </p:nvSpPr>
        <p:spPr>
          <a:xfrm>
            <a:off x="6318200" y="6777038"/>
            <a:ext cx="221779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</a:t>
            </a:r>
            <a:endParaRPr lang="en-US" sz="863" dirty="0"/>
          </a:p>
        </p:txBody>
      </p:sp>
      <p:sp>
        <p:nvSpPr>
          <p:cNvPr id="223" name="Shape 220"/>
          <p:cNvSpPr/>
          <p:nvPr/>
        </p:nvSpPr>
        <p:spPr>
          <a:xfrm>
            <a:off x="8448675" y="6803231"/>
            <a:ext cx="76200" cy="7620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224" name="Text 221"/>
          <p:cNvSpPr/>
          <p:nvPr/>
        </p:nvSpPr>
        <p:spPr>
          <a:xfrm>
            <a:off x="8582025" y="6777038"/>
            <a:ext cx="5145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63" dirty="0"/>
          </a:p>
        </p:txBody>
      </p:sp>
      <p:sp>
        <p:nvSpPr>
          <p:cNvPr id="225" name="Text 222"/>
          <p:cNvSpPr/>
          <p:nvPr/>
        </p:nvSpPr>
        <p:spPr>
          <a:xfrm>
            <a:off x="9534525" y="6777038"/>
            <a:ext cx="10287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4,732</a:t>
            </a:r>
            <a:endParaRPr lang="en-US" sz="863" dirty="0"/>
          </a:p>
        </p:txBody>
      </p:sp>
      <p:sp>
        <p:nvSpPr>
          <p:cNvPr id="226" name="Text 223"/>
          <p:cNvSpPr/>
          <p:nvPr/>
        </p:nvSpPr>
        <p:spPr>
          <a:xfrm>
            <a:off x="10601325" y="6777038"/>
            <a:ext cx="11239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863" dirty="0"/>
          </a:p>
        </p:txBody>
      </p:sp>
      <p:sp>
        <p:nvSpPr>
          <p:cNvPr id="227" name="Shape 224"/>
          <p:cNvSpPr/>
          <p:nvPr/>
        </p:nvSpPr>
        <p:spPr>
          <a:xfrm>
            <a:off x="1828800" y="3771900"/>
            <a:ext cx="2438400" cy="2667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228" name="Shape 225"/>
          <p:cNvSpPr/>
          <p:nvPr/>
        </p:nvSpPr>
        <p:spPr>
          <a:xfrm>
            <a:off x="1962150" y="3914775"/>
            <a:ext cx="95250" cy="9525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9" name="Text 226"/>
          <p:cNvSpPr/>
          <p:nvPr/>
        </p:nvSpPr>
        <p:spPr>
          <a:xfrm>
            <a:off x="2133600" y="3900488"/>
            <a:ext cx="1248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 PROFILE</a:t>
            </a:r>
            <a:endParaRPr lang="en-US" sz="825" dirty="0"/>
          </a:p>
        </p:txBody>
      </p:sp>
      <p:sp>
        <p:nvSpPr>
          <p:cNvPr id="230" name="Shape 227"/>
          <p:cNvSpPr/>
          <p:nvPr/>
        </p:nvSpPr>
        <p:spPr>
          <a:xfrm>
            <a:off x="3484736" y="38862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231" name="Text 228"/>
          <p:cNvSpPr/>
          <p:nvPr/>
        </p:nvSpPr>
        <p:spPr>
          <a:xfrm>
            <a:off x="3541886" y="39147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232" name="Text 229"/>
          <p:cNvSpPr/>
          <p:nvPr/>
        </p:nvSpPr>
        <p:spPr>
          <a:xfrm>
            <a:off x="1962150" y="4114800"/>
            <a:ext cx="2247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agencies · e.g. Veterans Affairs, Health &amp; Human Services</a:t>
            </a:r>
            <a:endParaRPr lang="en-US" sz="825" dirty="0"/>
          </a:p>
        </p:txBody>
      </p:sp>
      <p:sp>
        <p:nvSpPr>
          <p:cNvPr id="233" name="Text 230"/>
          <p:cNvSpPr/>
          <p:nvPr/>
        </p:nvSpPr>
        <p:spPr>
          <a:xfrm>
            <a:off x="1962150" y="4582716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%</a:t>
            </a:r>
            <a:endParaRPr lang="en-US" sz="788" dirty="0"/>
          </a:p>
        </p:txBody>
      </p:sp>
      <p:sp>
        <p:nvSpPr>
          <p:cNvPr id="234" name="Shape 231"/>
          <p:cNvSpPr/>
          <p:nvPr/>
        </p:nvSpPr>
        <p:spPr>
          <a:xfrm>
            <a:off x="2724150" y="4592613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35" name="Shape 232"/>
          <p:cNvSpPr/>
          <p:nvPr/>
        </p:nvSpPr>
        <p:spPr>
          <a:xfrm>
            <a:off x="2724150" y="4592613"/>
            <a:ext cx="264096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36" name="Shape 233"/>
          <p:cNvSpPr/>
          <p:nvPr/>
        </p:nvSpPr>
        <p:spPr>
          <a:xfrm>
            <a:off x="3318495" y="4564038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37" name="Text 234"/>
          <p:cNvSpPr/>
          <p:nvPr/>
        </p:nvSpPr>
        <p:spPr>
          <a:xfrm>
            <a:off x="3695700" y="4578325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825" dirty="0"/>
          </a:p>
        </p:txBody>
      </p:sp>
      <p:sp>
        <p:nvSpPr>
          <p:cNvPr id="238" name="Text 235"/>
          <p:cNvSpPr/>
          <p:nvPr/>
        </p:nvSpPr>
        <p:spPr>
          <a:xfrm>
            <a:off x="1962150" y="4915719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%</a:t>
            </a:r>
            <a:endParaRPr lang="en-US" sz="788" dirty="0"/>
          </a:p>
        </p:txBody>
      </p:sp>
      <p:sp>
        <p:nvSpPr>
          <p:cNvPr id="239" name="Shape 236"/>
          <p:cNvSpPr/>
          <p:nvPr/>
        </p:nvSpPr>
        <p:spPr>
          <a:xfrm>
            <a:off x="2724150" y="4925616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40" name="Shape 237"/>
          <p:cNvSpPr/>
          <p:nvPr/>
        </p:nvSpPr>
        <p:spPr>
          <a:xfrm>
            <a:off x="2724150" y="4925616"/>
            <a:ext cx="383828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241" name="Shape 238"/>
          <p:cNvSpPr/>
          <p:nvPr/>
        </p:nvSpPr>
        <p:spPr>
          <a:xfrm>
            <a:off x="3306068" y="4897041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42" name="Text 239"/>
          <p:cNvSpPr/>
          <p:nvPr/>
        </p:nvSpPr>
        <p:spPr>
          <a:xfrm>
            <a:off x="3695700" y="491132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825" dirty="0"/>
          </a:p>
        </p:txBody>
      </p:sp>
      <p:sp>
        <p:nvSpPr>
          <p:cNvPr id="243" name="Text 240"/>
          <p:cNvSpPr/>
          <p:nvPr/>
        </p:nvSpPr>
        <p:spPr>
          <a:xfrm>
            <a:off x="1962150" y="5248721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%</a:t>
            </a:r>
            <a:endParaRPr lang="en-US" sz="788" dirty="0"/>
          </a:p>
        </p:txBody>
      </p:sp>
      <p:sp>
        <p:nvSpPr>
          <p:cNvPr id="244" name="Shape 241"/>
          <p:cNvSpPr/>
          <p:nvPr/>
        </p:nvSpPr>
        <p:spPr>
          <a:xfrm>
            <a:off x="2724150" y="5258619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45" name="Shape 242"/>
          <p:cNvSpPr/>
          <p:nvPr/>
        </p:nvSpPr>
        <p:spPr>
          <a:xfrm>
            <a:off x="2724150" y="5258619"/>
            <a:ext cx="42922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246" name="Shape 243"/>
          <p:cNvSpPr/>
          <p:nvPr/>
        </p:nvSpPr>
        <p:spPr>
          <a:xfrm>
            <a:off x="3252415" y="5230044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47" name="Text 244"/>
          <p:cNvSpPr/>
          <p:nvPr/>
        </p:nvSpPr>
        <p:spPr>
          <a:xfrm>
            <a:off x="3695700" y="5244331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825" dirty="0"/>
          </a:p>
        </p:txBody>
      </p:sp>
      <p:sp>
        <p:nvSpPr>
          <p:cNvPr id="248" name="Text 245"/>
          <p:cNvSpPr/>
          <p:nvPr/>
        </p:nvSpPr>
        <p:spPr>
          <a:xfrm>
            <a:off x="1962150" y="5581799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Hire-to-exit</a:t>
            </a:r>
            <a:endParaRPr lang="en-US" sz="788" dirty="0"/>
          </a:p>
        </p:txBody>
      </p:sp>
      <p:sp>
        <p:nvSpPr>
          <p:cNvPr id="249" name="Shape 246"/>
          <p:cNvSpPr/>
          <p:nvPr/>
        </p:nvSpPr>
        <p:spPr>
          <a:xfrm>
            <a:off x="2724150" y="5591696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50" name="Shape 247"/>
          <p:cNvSpPr/>
          <p:nvPr/>
        </p:nvSpPr>
        <p:spPr>
          <a:xfrm>
            <a:off x="2724150" y="5591696"/>
            <a:ext cx="759396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251" name="Shape 248"/>
          <p:cNvSpPr/>
          <p:nvPr/>
        </p:nvSpPr>
        <p:spPr>
          <a:xfrm>
            <a:off x="3252415" y="5563121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52" name="Text 249"/>
          <p:cNvSpPr/>
          <p:nvPr/>
        </p:nvSpPr>
        <p:spPr>
          <a:xfrm>
            <a:off x="3695700" y="557740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25" dirty="0"/>
          </a:p>
        </p:txBody>
      </p:sp>
      <p:sp>
        <p:nvSpPr>
          <p:cNvPr id="253" name="Text 250"/>
          <p:cNvSpPr/>
          <p:nvPr/>
        </p:nvSpPr>
        <p:spPr>
          <a:xfrm>
            <a:off x="1962150" y="5914802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 55+</a:t>
            </a:r>
            <a:endParaRPr lang="en-US" sz="788" dirty="0"/>
          </a:p>
        </p:txBody>
      </p:sp>
      <p:sp>
        <p:nvSpPr>
          <p:cNvPr id="254" name="Shape 251"/>
          <p:cNvSpPr/>
          <p:nvPr/>
        </p:nvSpPr>
        <p:spPr>
          <a:xfrm>
            <a:off x="2724150" y="5924699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55" name="Shape 252"/>
          <p:cNvSpPr/>
          <p:nvPr/>
        </p:nvSpPr>
        <p:spPr>
          <a:xfrm>
            <a:off x="2724150" y="5924699"/>
            <a:ext cx="594345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256" name="Shape 253"/>
          <p:cNvSpPr/>
          <p:nvPr/>
        </p:nvSpPr>
        <p:spPr>
          <a:xfrm>
            <a:off x="3405188" y="5896124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57" name="Text 254"/>
          <p:cNvSpPr/>
          <p:nvPr/>
        </p:nvSpPr>
        <p:spPr>
          <a:xfrm>
            <a:off x="3695700" y="5910411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25" dirty="0"/>
          </a:p>
        </p:txBody>
      </p:sp>
      <p:sp>
        <p:nvSpPr>
          <p:cNvPr id="258" name="Shape 255"/>
          <p:cNvSpPr/>
          <p:nvPr/>
        </p:nvSpPr>
        <p:spPr>
          <a:xfrm>
            <a:off x="1962150" y="6222206"/>
            <a:ext cx="19050" cy="9525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59" name="Text 256"/>
          <p:cNvSpPr/>
          <p:nvPr/>
        </p:nvSpPr>
        <p:spPr>
          <a:xfrm>
            <a:off x="2028825" y="6215063"/>
            <a:ext cx="891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All-agency average</a:t>
            </a:r>
            <a:endParaRPr lang="en-US" sz="750" dirty="0"/>
          </a:p>
        </p:txBody>
      </p:sp>
      <p:sp>
        <p:nvSpPr>
          <p:cNvPr id="260" name="Shape 257"/>
          <p:cNvSpPr/>
          <p:nvPr/>
        </p:nvSpPr>
        <p:spPr>
          <a:xfrm>
            <a:off x="4419600" y="3771900"/>
            <a:ext cx="2438326" cy="2667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261" name="Shape 258"/>
          <p:cNvSpPr/>
          <p:nvPr/>
        </p:nvSpPr>
        <p:spPr>
          <a:xfrm>
            <a:off x="4552950" y="3914775"/>
            <a:ext cx="95250" cy="95250"/>
          </a:xfrm>
          <a:prstGeom prst="ellipse">
            <a:avLst/>
          </a:prstGeom>
          <a:solidFill>
            <a:srgbClr val="6F93BD"/>
          </a:solidFill>
          <a:ln/>
        </p:spPr>
      </p:sp>
      <p:sp>
        <p:nvSpPr>
          <p:cNvPr id="262" name="Text 259"/>
          <p:cNvSpPr/>
          <p:nvPr/>
        </p:nvSpPr>
        <p:spPr>
          <a:xfrm>
            <a:off x="4724400" y="3900488"/>
            <a:ext cx="1248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PROFILE</a:t>
            </a:r>
            <a:endParaRPr lang="en-US" sz="825" dirty="0"/>
          </a:p>
        </p:txBody>
      </p:sp>
      <p:sp>
        <p:nvSpPr>
          <p:cNvPr id="263" name="Shape 260"/>
          <p:cNvSpPr/>
          <p:nvPr/>
        </p:nvSpPr>
        <p:spPr>
          <a:xfrm>
            <a:off x="6075462" y="38862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264" name="Text 261"/>
          <p:cNvSpPr/>
          <p:nvPr/>
        </p:nvSpPr>
        <p:spPr>
          <a:xfrm>
            <a:off x="6132612" y="39147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265" name="Text 262"/>
          <p:cNvSpPr/>
          <p:nvPr/>
        </p:nvSpPr>
        <p:spPr>
          <a:xfrm>
            <a:off x="4552950" y="4114800"/>
            <a:ext cx="2388788" cy="17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agencies · e.g. Defense – Army, Treasury</a:t>
            </a:r>
            <a:endParaRPr lang="en-US" sz="825" dirty="0"/>
          </a:p>
        </p:txBody>
      </p:sp>
      <p:sp>
        <p:nvSpPr>
          <p:cNvPr id="266" name="Text 263"/>
          <p:cNvSpPr/>
          <p:nvPr/>
        </p:nvSpPr>
        <p:spPr>
          <a:xfrm>
            <a:off x="4552950" y="4455468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%</a:t>
            </a:r>
            <a:endParaRPr lang="en-US" sz="788" dirty="0"/>
          </a:p>
        </p:txBody>
      </p:sp>
      <p:sp>
        <p:nvSpPr>
          <p:cNvPr id="267" name="Shape 264"/>
          <p:cNvSpPr/>
          <p:nvPr/>
        </p:nvSpPr>
        <p:spPr>
          <a:xfrm>
            <a:off x="5314950" y="4465365"/>
            <a:ext cx="990526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68" name="Shape 265"/>
          <p:cNvSpPr/>
          <p:nvPr/>
        </p:nvSpPr>
        <p:spPr>
          <a:xfrm>
            <a:off x="5314950" y="4465365"/>
            <a:ext cx="693316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69" name="Shape 266"/>
          <p:cNvSpPr/>
          <p:nvPr/>
        </p:nvSpPr>
        <p:spPr>
          <a:xfrm>
            <a:off x="5909221" y="4436790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70" name="Text 267"/>
          <p:cNvSpPr/>
          <p:nvPr/>
        </p:nvSpPr>
        <p:spPr>
          <a:xfrm>
            <a:off x="6286426" y="4451077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825" dirty="0"/>
          </a:p>
        </p:txBody>
      </p:sp>
      <p:sp>
        <p:nvSpPr>
          <p:cNvPr id="271" name="Text 268"/>
          <p:cNvSpPr/>
          <p:nvPr/>
        </p:nvSpPr>
        <p:spPr>
          <a:xfrm>
            <a:off x="4552950" y="4816748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%</a:t>
            </a:r>
            <a:endParaRPr lang="en-US" sz="788" dirty="0"/>
          </a:p>
        </p:txBody>
      </p:sp>
      <p:sp>
        <p:nvSpPr>
          <p:cNvPr id="272" name="Shape 269"/>
          <p:cNvSpPr/>
          <p:nvPr/>
        </p:nvSpPr>
        <p:spPr>
          <a:xfrm>
            <a:off x="5314950" y="4826645"/>
            <a:ext cx="990526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73" name="Shape 270"/>
          <p:cNvSpPr/>
          <p:nvPr/>
        </p:nvSpPr>
        <p:spPr>
          <a:xfrm>
            <a:off x="5314950" y="4826645"/>
            <a:ext cx="520005" cy="95250"/>
          </a:xfrm>
          <a:prstGeom prst="roundRect">
            <a:avLst>
              <a:gd name="adj" fmla="val 20000"/>
            </a:avLst>
          </a:prstGeom>
          <a:solidFill>
            <a:srgbClr val="6F93BD"/>
          </a:solidFill>
          <a:ln/>
        </p:spPr>
      </p:sp>
      <p:sp>
        <p:nvSpPr>
          <p:cNvPr id="274" name="Shape 271"/>
          <p:cNvSpPr/>
          <p:nvPr/>
        </p:nvSpPr>
        <p:spPr>
          <a:xfrm>
            <a:off x="5896868" y="4798070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75" name="Text 272"/>
          <p:cNvSpPr/>
          <p:nvPr/>
        </p:nvSpPr>
        <p:spPr>
          <a:xfrm>
            <a:off x="6286426" y="4812357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825" dirty="0"/>
          </a:p>
        </p:txBody>
      </p:sp>
      <p:sp>
        <p:nvSpPr>
          <p:cNvPr id="276" name="Text 273"/>
          <p:cNvSpPr/>
          <p:nvPr/>
        </p:nvSpPr>
        <p:spPr>
          <a:xfrm>
            <a:off x="4552950" y="5178028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%</a:t>
            </a:r>
            <a:endParaRPr lang="en-US" sz="788" dirty="0"/>
          </a:p>
        </p:txBody>
      </p:sp>
      <p:sp>
        <p:nvSpPr>
          <p:cNvPr id="277" name="Shape 274"/>
          <p:cNvSpPr/>
          <p:nvPr/>
        </p:nvSpPr>
        <p:spPr>
          <a:xfrm>
            <a:off x="5314950" y="5187925"/>
            <a:ext cx="990526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78" name="Shape 275"/>
          <p:cNvSpPr/>
          <p:nvPr/>
        </p:nvSpPr>
        <p:spPr>
          <a:xfrm>
            <a:off x="5314950" y="5187925"/>
            <a:ext cx="561231" cy="95250"/>
          </a:xfrm>
          <a:prstGeom prst="roundRect">
            <a:avLst>
              <a:gd name="adj" fmla="val 20000"/>
            </a:avLst>
          </a:prstGeom>
          <a:solidFill>
            <a:srgbClr val="6F93BD"/>
          </a:solidFill>
          <a:ln/>
        </p:spPr>
      </p:sp>
      <p:sp>
        <p:nvSpPr>
          <p:cNvPr id="279" name="Shape 276"/>
          <p:cNvSpPr/>
          <p:nvPr/>
        </p:nvSpPr>
        <p:spPr>
          <a:xfrm>
            <a:off x="5843215" y="5159350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80" name="Text 277"/>
          <p:cNvSpPr/>
          <p:nvPr/>
        </p:nvSpPr>
        <p:spPr>
          <a:xfrm>
            <a:off x="6286426" y="517363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825" dirty="0"/>
          </a:p>
        </p:txBody>
      </p:sp>
      <p:sp>
        <p:nvSpPr>
          <p:cNvPr id="281" name="Text 278"/>
          <p:cNvSpPr/>
          <p:nvPr/>
        </p:nvSpPr>
        <p:spPr>
          <a:xfrm>
            <a:off x="4552950" y="5539383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Hire-to-exit</a:t>
            </a:r>
            <a:endParaRPr lang="en-US" sz="788" dirty="0"/>
          </a:p>
        </p:txBody>
      </p:sp>
      <p:sp>
        <p:nvSpPr>
          <p:cNvPr id="282" name="Shape 279"/>
          <p:cNvSpPr/>
          <p:nvPr/>
        </p:nvSpPr>
        <p:spPr>
          <a:xfrm>
            <a:off x="5314950" y="5549280"/>
            <a:ext cx="990526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83" name="Shape 280"/>
          <p:cNvSpPr/>
          <p:nvPr/>
        </p:nvSpPr>
        <p:spPr>
          <a:xfrm>
            <a:off x="5314950" y="5549280"/>
            <a:ext cx="396180" cy="95250"/>
          </a:xfrm>
          <a:prstGeom prst="roundRect">
            <a:avLst>
              <a:gd name="adj" fmla="val 20000"/>
            </a:avLst>
          </a:prstGeom>
          <a:solidFill>
            <a:srgbClr val="6F93BD"/>
          </a:solidFill>
          <a:ln/>
        </p:spPr>
      </p:sp>
      <p:sp>
        <p:nvSpPr>
          <p:cNvPr id="284" name="Shape 281"/>
          <p:cNvSpPr/>
          <p:nvPr/>
        </p:nvSpPr>
        <p:spPr>
          <a:xfrm>
            <a:off x="5843215" y="5520705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85" name="Text 282"/>
          <p:cNvSpPr/>
          <p:nvPr/>
        </p:nvSpPr>
        <p:spPr>
          <a:xfrm>
            <a:off x="6286426" y="5534992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</a:t>
            </a:r>
            <a:endParaRPr lang="en-US" sz="825" dirty="0"/>
          </a:p>
        </p:txBody>
      </p:sp>
      <p:sp>
        <p:nvSpPr>
          <p:cNvPr id="286" name="Text 283"/>
          <p:cNvSpPr/>
          <p:nvPr/>
        </p:nvSpPr>
        <p:spPr>
          <a:xfrm>
            <a:off x="4552950" y="5900663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 55+</a:t>
            </a:r>
            <a:endParaRPr lang="en-US" sz="788" dirty="0"/>
          </a:p>
        </p:txBody>
      </p:sp>
      <p:sp>
        <p:nvSpPr>
          <p:cNvPr id="287" name="Shape 284"/>
          <p:cNvSpPr/>
          <p:nvPr/>
        </p:nvSpPr>
        <p:spPr>
          <a:xfrm>
            <a:off x="5314950" y="5910560"/>
            <a:ext cx="990526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88" name="Shape 285"/>
          <p:cNvSpPr/>
          <p:nvPr/>
        </p:nvSpPr>
        <p:spPr>
          <a:xfrm>
            <a:off x="5314950" y="5910560"/>
            <a:ext cx="767655" cy="95250"/>
          </a:xfrm>
          <a:prstGeom prst="roundRect">
            <a:avLst>
              <a:gd name="adj" fmla="val 20000"/>
            </a:avLst>
          </a:prstGeom>
          <a:solidFill>
            <a:srgbClr val="6F93BD"/>
          </a:solidFill>
          <a:ln/>
        </p:spPr>
      </p:sp>
      <p:sp>
        <p:nvSpPr>
          <p:cNvPr id="289" name="Shape 286"/>
          <p:cNvSpPr/>
          <p:nvPr/>
        </p:nvSpPr>
        <p:spPr>
          <a:xfrm>
            <a:off x="5995913" y="5881985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90" name="Text 287"/>
          <p:cNvSpPr/>
          <p:nvPr/>
        </p:nvSpPr>
        <p:spPr>
          <a:xfrm>
            <a:off x="6286426" y="5896273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825" dirty="0"/>
          </a:p>
        </p:txBody>
      </p:sp>
      <p:sp>
        <p:nvSpPr>
          <p:cNvPr id="291" name="Shape 288"/>
          <p:cNvSpPr/>
          <p:nvPr/>
        </p:nvSpPr>
        <p:spPr>
          <a:xfrm>
            <a:off x="4552950" y="6222206"/>
            <a:ext cx="19050" cy="9525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292" name="Text 289"/>
          <p:cNvSpPr/>
          <p:nvPr/>
        </p:nvSpPr>
        <p:spPr>
          <a:xfrm>
            <a:off x="4619625" y="6215063"/>
            <a:ext cx="891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All-agency average</a:t>
            </a:r>
            <a:endParaRPr lang="en-US" sz="750" dirty="0"/>
          </a:p>
        </p:txBody>
      </p:sp>
      <p:sp>
        <p:nvSpPr>
          <p:cNvPr id="293" name="Shape 290"/>
          <p:cNvSpPr/>
          <p:nvPr/>
        </p:nvSpPr>
        <p:spPr>
          <a:xfrm>
            <a:off x="7010326" y="3771900"/>
            <a:ext cx="2438474" cy="2667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294" name="Shape 291"/>
          <p:cNvSpPr/>
          <p:nvPr/>
        </p:nvSpPr>
        <p:spPr>
          <a:xfrm>
            <a:off x="7143676" y="3914775"/>
            <a:ext cx="95250" cy="95250"/>
          </a:xfrm>
          <a:prstGeom prst="ellipse">
            <a:avLst/>
          </a:prstGeom>
          <a:solidFill>
            <a:srgbClr val="4A5563"/>
          </a:solidFill>
          <a:ln/>
        </p:spPr>
      </p:sp>
      <p:sp>
        <p:nvSpPr>
          <p:cNvPr id="295" name="Text 292"/>
          <p:cNvSpPr/>
          <p:nvPr/>
        </p:nvSpPr>
        <p:spPr>
          <a:xfrm>
            <a:off x="7315126" y="3900488"/>
            <a:ext cx="1248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 PROFILE</a:t>
            </a:r>
            <a:endParaRPr lang="en-US" sz="825" dirty="0"/>
          </a:p>
        </p:txBody>
      </p:sp>
      <p:sp>
        <p:nvSpPr>
          <p:cNvPr id="296" name="Shape 293"/>
          <p:cNvSpPr/>
          <p:nvPr/>
        </p:nvSpPr>
        <p:spPr>
          <a:xfrm>
            <a:off x="8666336" y="38862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297" name="Text 294"/>
          <p:cNvSpPr/>
          <p:nvPr/>
        </p:nvSpPr>
        <p:spPr>
          <a:xfrm>
            <a:off x="8723486" y="39147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298" name="Text 295"/>
          <p:cNvSpPr/>
          <p:nvPr/>
        </p:nvSpPr>
        <p:spPr>
          <a:xfrm>
            <a:off x="7143676" y="4114800"/>
            <a:ext cx="224797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agencies · e.g. Defense – Navy, Homeland Security</a:t>
            </a:r>
            <a:endParaRPr lang="en-US" sz="825" dirty="0"/>
          </a:p>
        </p:txBody>
      </p:sp>
      <p:sp>
        <p:nvSpPr>
          <p:cNvPr id="299" name="Text 296"/>
          <p:cNvSpPr/>
          <p:nvPr/>
        </p:nvSpPr>
        <p:spPr>
          <a:xfrm>
            <a:off x="7143676" y="4582716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%</a:t>
            </a:r>
            <a:endParaRPr lang="en-US" sz="788" dirty="0"/>
          </a:p>
        </p:txBody>
      </p:sp>
      <p:sp>
        <p:nvSpPr>
          <p:cNvPr id="300" name="Shape 297"/>
          <p:cNvSpPr/>
          <p:nvPr/>
        </p:nvSpPr>
        <p:spPr>
          <a:xfrm>
            <a:off x="7905676" y="4592613"/>
            <a:ext cx="990674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01" name="Shape 298"/>
          <p:cNvSpPr/>
          <p:nvPr/>
        </p:nvSpPr>
        <p:spPr>
          <a:xfrm>
            <a:off x="7905676" y="4592613"/>
            <a:ext cx="363215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02" name="Shape 299"/>
          <p:cNvSpPr/>
          <p:nvPr/>
        </p:nvSpPr>
        <p:spPr>
          <a:xfrm>
            <a:off x="8500021" y="4564038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03" name="Text 300"/>
          <p:cNvSpPr/>
          <p:nvPr/>
        </p:nvSpPr>
        <p:spPr>
          <a:xfrm>
            <a:off x="8877300" y="4578325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825" dirty="0"/>
          </a:p>
        </p:txBody>
      </p:sp>
      <p:sp>
        <p:nvSpPr>
          <p:cNvPr id="304" name="Text 301"/>
          <p:cNvSpPr/>
          <p:nvPr/>
        </p:nvSpPr>
        <p:spPr>
          <a:xfrm>
            <a:off x="7143676" y="4915719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%</a:t>
            </a:r>
            <a:endParaRPr lang="en-US" sz="788" dirty="0"/>
          </a:p>
        </p:txBody>
      </p:sp>
      <p:sp>
        <p:nvSpPr>
          <p:cNvPr id="305" name="Shape 302"/>
          <p:cNvSpPr/>
          <p:nvPr/>
        </p:nvSpPr>
        <p:spPr>
          <a:xfrm>
            <a:off x="7905676" y="4925616"/>
            <a:ext cx="990674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06" name="Shape 303"/>
          <p:cNvSpPr/>
          <p:nvPr/>
        </p:nvSpPr>
        <p:spPr>
          <a:xfrm>
            <a:off x="7905676" y="4925616"/>
            <a:ext cx="792510" cy="95250"/>
          </a:xfrm>
          <a:prstGeom prst="roundRect">
            <a:avLst>
              <a:gd name="adj" fmla="val 20000"/>
            </a:avLst>
          </a:prstGeom>
          <a:solidFill>
            <a:srgbClr val="4A5563"/>
          </a:solidFill>
          <a:ln/>
        </p:spPr>
      </p:sp>
      <p:sp>
        <p:nvSpPr>
          <p:cNvPr id="307" name="Shape 304"/>
          <p:cNvSpPr/>
          <p:nvPr/>
        </p:nvSpPr>
        <p:spPr>
          <a:xfrm>
            <a:off x="8487668" y="4897041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08" name="Text 305"/>
          <p:cNvSpPr/>
          <p:nvPr/>
        </p:nvSpPr>
        <p:spPr>
          <a:xfrm>
            <a:off x="8877300" y="491132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825" dirty="0"/>
          </a:p>
        </p:txBody>
      </p:sp>
      <p:sp>
        <p:nvSpPr>
          <p:cNvPr id="309" name="Text 306"/>
          <p:cNvSpPr/>
          <p:nvPr/>
        </p:nvSpPr>
        <p:spPr>
          <a:xfrm>
            <a:off x="7143676" y="5248721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%</a:t>
            </a:r>
            <a:endParaRPr lang="en-US" sz="788" dirty="0"/>
          </a:p>
        </p:txBody>
      </p:sp>
      <p:sp>
        <p:nvSpPr>
          <p:cNvPr id="310" name="Shape 307"/>
          <p:cNvSpPr/>
          <p:nvPr/>
        </p:nvSpPr>
        <p:spPr>
          <a:xfrm>
            <a:off x="7905676" y="5258619"/>
            <a:ext cx="990674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11" name="Shape 308"/>
          <p:cNvSpPr/>
          <p:nvPr/>
        </p:nvSpPr>
        <p:spPr>
          <a:xfrm>
            <a:off x="7905676" y="5258619"/>
            <a:ext cx="321915" cy="95250"/>
          </a:xfrm>
          <a:prstGeom prst="roundRect">
            <a:avLst>
              <a:gd name="adj" fmla="val 20000"/>
            </a:avLst>
          </a:prstGeom>
          <a:solidFill>
            <a:srgbClr val="4A5563"/>
          </a:solidFill>
          <a:ln/>
        </p:spPr>
      </p:sp>
      <p:sp>
        <p:nvSpPr>
          <p:cNvPr id="312" name="Shape 309"/>
          <p:cNvSpPr/>
          <p:nvPr/>
        </p:nvSpPr>
        <p:spPr>
          <a:xfrm>
            <a:off x="8434015" y="5230044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13" name="Text 310"/>
          <p:cNvSpPr/>
          <p:nvPr/>
        </p:nvSpPr>
        <p:spPr>
          <a:xfrm>
            <a:off x="8877300" y="5244331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825" dirty="0"/>
          </a:p>
        </p:txBody>
      </p:sp>
      <p:sp>
        <p:nvSpPr>
          <p:cNvPr id="314" name="Text 311"/>
          <p:cNvSpPr/>
          <p:nvPr/>
        </p:nvSpPr>
        <p:spPr>
          <a:xfrm>
            <a:off x="7143676" y="5581799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Hire-to-exit</a:t>
            </a:r>
            <a:endParaRPr lang="en-US" sz="788" dirty="0"/>
          </a:p>
        </p:txBody>
      </p:sp>
      <p:sp>
        <p:nvSpPr>
          <p:cNvPr id="315" name="Shape 312"/>
          <p:cNvSpPr/>
          <p:nvPr/>
        </p:nvSpPr>
        <p:spPr>
          <a:xfrm>
            <a:off x="7905676" y="5591696"/>
            <a:ext cx="990674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16" name="Shape 313"/>
          <p:cNvSpPr/>
          <p:nvPr/>
        </p:nvSpPr>
        <p:spPr>
          <a:xfrm>
            <a:off x="7905676" y="5591696"/>
            <a:ext cx="668685" cy="95250"/>
          </a:xfrm>
          <a:prstGeom prst="roundRect">
            <a:avLst>
              <a:gd name="adj" fmla="val 20000"/>
            </a:avLst>
          </a:prstGeom>
          <a:solidFill>
            <a:srgbClr val="4A5563"/>
          </a:solidFill>
          <a:ln/>
        </p:spPr>
      </p:sp>
      <p:sp>
        <p:nvSpPr>
          <p:cNvPr id="317" name="Shape 314"/>
          <p:cNvSpPr/>
          <p:nvPr/>
        </p:nvSpPr>
        <p:spPr>
          <a:xfrm>
            <a:off x="8434015" y="5563121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18" name="Text 315"/>
          <p:cNvSpPr/>
          <p:nvPr/>
        </p:nvSpPr>
        <p:spPr>
          <a:xfrm>
            <a:off x="8877300" y="557740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825" dirty="0"/>
          </a:p>
        </p:txBody>
      </p:sp>
      <p:sp>
        <p:nvSpPr>
          <p:cNvPr id="319" name="Text 316"/>
          <p:cNvSpPr/>
          <p:nvPr/>
        </p:nvSpPr>
        <p:spPr>
          <a:xfrm>
            <a:off x="7143676" y="5914802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 55+</a:t>
            </a:r>
            <a:endParaRPr lang="en-US" sz="788" dirty="0"/>
          </a:p>
        </p:txBody>
      </p:sp>
      <p:sp>
        <p:nvSpPr>
          <p:cNvPr id="320" name="Shape 317"/>
          <p:cNvSpPr/>
          <p:nvPr/>
        </p:nvSpPr>
        <p:spPr>
          <a:xfrm>
            <a:off x="7905676" y="5924699"/>
            <a:ext cx="990674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21" name="Shape 318"/>
          <p:cNvSpPr/>
          <p:nvPr/>
        </p:nvSpPr>
        <p:spPr>
          <a:xfrm>
            <a:off x="7905676" y="5924699"/>
            <a:ext cx="470520" cy="95250"/>
          </a:xfrm>
          <a:prstGeom prst="roundRect">
            <a:avLst>
              <a:gd name="adj" fmla="val 20000"/>
            </a:avLst>
          </a:prstGeom>
          <a:solidFill>
            <a:srgbClr val="4A5563"/>
          </a:solidFill>
          <a:ln/>
        </p:spPr>
      </p:sp>
      <p:sp>
        <p:nvSpPr>
          <p:cNvPr id="322" name="Shape 319"/>
          <p:cNvSpPr/>
          <p:nvPr/>
        </p:nvSpPr>
        <p:spPr>
          <a:xfrm>
            <a:off x="8586713" y="5896124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23" name="Text 320"/>
          <p:cNvSpPr/>
          <p:nvPr/>
        </p:nvSpPr>
        <p:spPr>
          <a:xfrm>
            <a:off x="8877300" y="5910411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825" dirty="0"/>
          </a:p>
        </p:txBody>
      </p:sp>
      <p:sp>
        <p:nvSpPr>
          <p:cNvPr id="324" name="Shape 321"/>
          <p:cNvSpPr/>
          <p:nvPr/>
        </p:nvSpPr>
        <p:spPr>
          <a:xfrm>
            <a:off x="7143676" y="6222206"/>
            <a:ext cx="19050" cy="9525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25" name="Text 322"/>
          <p:cNvSpPr/>
          <p:nvPr/>
        </p:nvSpPr>
        <p:spPr>
          <a:xfrm>
            <a:off x="7210351" y="6215063"/>
            <a:ext cx="891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All-agency average</a:t>
            </a:r>
            <a:endParaRPr lang="en-US" sz="750" dirty="0"/>
          </a:p>
        </p:txBody>
      </p:sp>
      <p:sp>
        <p:nvSpPr>
          <p:cNvPr id="326" name="Shape 323"/>
          <p:cNvSpPr/>
          <p:nvPr/>
        </p:nvSpPr>
        <p:spPr>
          <a:xfrm>
            <a:off x="9601200" y="3771900"/>
            <a:ext cx="2438400" cy="2667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327" name="Shape 324"/>
          <p:cNvSpPr/>
          <p:nvPr/>
        </p:nvSpPr>
        <p:spPr>
          <a:xfrm>
            <a:off x="9734550" y="3914775"/>
            <a:ext cx="95250" cy="95250"/>
          </a:xfrm>
          <a:prstGeom prst="ellipse">
            <a:avLst/>
          </a:prstGeom>
          <a:solidFill>
            <a:srgbClr val="A9BCD0"/>
          </a:solidFill>
          <a:ln/>
        </p:spPr>
      </p:sp>
      <p:sp>
        <p:nvSpPr>
          <p:cNvPr id="328" name="Text 325"/>
          <p:cNvSpPr/>
          <p:nvPr/>
        </p:nvSpPr>
        <p:spPr>
          <a:xfrm>
            <a:off x="9906000" y="3900488"/>
            <a:ext cx="1248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 PROFILE</a:t>
            </a:r>
            <a:endParaRPr lang="en-US" sz="825" dirty="0"/>
          </a:p>
        </p:txBody>
      </p:sp>
      <p:sp>
        <p:nvSpPr>
          <p:cNvPr id="329" name="Shape 326"/>
          <p:cNvSpPr/>
          <p:nvPr/>
        </p:nvSpPr>
        <p:spPr>
          <a:xfrm>
            <a:off x="11257136" y="38862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330" name="Text 327"/>
          <p:cNvSpPr/>
          <p:nvPr/>
        </p:nvSpPr>
        <p:spPr>
          <a:xfrm>
            <a:off x="11314286" y="39147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331" name="Text 328"/>
          <p:cNvSpPr/>
          <p:nvPr/>
        </p:nvSpPr>
        <p:spPr>
          <a:xfrm>
            <a:off x="9734550" y="4114800"/>
            <a:ext cx="2247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31"/>
              </a:lnSpc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agencies · e.g. Defense – Air Force, Agriculture</a:t>
            </a:r>
            <a:endParaRPr lang="en-US" sz="825" dirty="0"/>
          </a:p>
        </p:txBody>
      </p:sp>
      <p:sp>
        <p:nvSpPr>
          <p:cNvPr id="332" name="Text 329"/>
          <p:cNvSpPr/>
          <p:nvPr/>
        </p:nvSpPr>
        <p:spPr>
          <a:xfrm>
            <a:off x="9734550" y="4582716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%</a:t>
            </a:r>
            <a:endParaRPr lang="en-US" sz="788" dirty="0"/>
          </a:p>
        </p:txBody>
      </p:sp>
      <p:sp>
        <p:nvSpPr>
          <p:cNvPr id="333" name="Shape 330"/>
          <p:cNvSpPr/>
          <p:nvPr/>
        </p:nvSpPr>
        <p:spPr>
          <a:xfrm>
            <a:off x="10496550" y="4592613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34" name="Shape 331"/>
          <p:cNvSpPr/>
          <p:nvPr/>
        </p:nvSpPr>
        <p:spPr>
          <a:xfrm>
            <a:off x="10496550" y="4592613"/>
            <a:ext cx="858515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335" name="Shape 332"/>
          <p:cNvSpPr/>
          <p:nvPr/>
        </p:nvSpPr>
        <p:spPr>
          <a:xfrm>
            <a:off x="11090895" y="4564038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36" name="Text 333"/>
          <p:cNvSpPr/>
          <p:nvPr/>
        </p:nvSpPr>
        <p:spPr>
          <a:xfrm>
            <a:off x="11468100" y="4578325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25" dirty="0"/>
          </a:p>
        </p:txBody>
      </p:sp>
      <p:sp>
        <p:nvSpPr>
          <p:cNvPr id="337" name="Text 334"/>
          <p:cNvSpPr/>
          <p:nvPr/>
        </p:nvSpPr>
        <p:spPr>
          <a:xfrm>
            <a:off x="9734550" y="4915719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%</a:t>
            </a:r>
            <a:endParaRPr lang="en-US" sz="788" dirty="0"/>
          </a:p>
        </p:txBody>
      </p:sp>
      <p:sp>
        <p:nvSpPr>
          <p:cNvPr id="338" name="Shape 335"/>
          <p:cNvSpPr/>
          <p:nvPr/>
        </p:nvSpPr>
        <p:spPr>
          <a:xfrm>
            <a:off x="10496550" y="4925616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39" name="Shape 336"/>
          <p:cNvSpPr/>
          <p:nvPr/>
        </p:nvSpPr>
        <p:spPr>
          <a:xfrm>
            <a:off x="10496550" y="4925616"/>
            <a:ext cx="631478" cy="95250"/>
          </a:xfrm>
          <a:prstGeom prst="roundRect">
            <a:avLst>
              <a:gd name="adj" fmla="val 20000"/>
            </a:avLst>
          </a:prstGeom>
          <a:solidFill>
            <a:srgbClr val="7F98B5"/>
          </a:solidFill>
          <a:ln/>
        </p:spPr>
      </p:sp>
      <p:sp>
        <p:nvSpPr>
          <p:cNvPr id="340" name="Shape 337"/>
          <p:cNvSpPr/>
          <p:nvPr/>
        </p:nvSpPr>
        <p:spPr>
          <a:xfrm>
            <a:off x="11078468" y="4897041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41" name="Text 338"/>
          <p:cNvSpPr/>
          <p:nvPr/>
        </p:nvSpPr>
        <p:spPr>
          <a:xfrm>
            <a:off x="11468100" y="491132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825" dirty="0"/>
          </a:p>
        </p:txBody>
      </p:sp>
      <p:sp>
        <p:nvSpPr>
          <p:cNvPr id="342" name="Text 339"/>
          <p:cNvSpPr/>
          <p:nvPr/>
        </p:nvSpPr>
        <p:spPr>
          <a:xfrm>
            <a:off x="9734550" y="5248721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%</a:t>
            </a:r>
            <a:endParaRPr lang="en-US" sz="788" dirty="0"/>
          </a:p>
        </p:txBody>
      </p:sp>
      <p:sp>
        <p:nvSpPr>
          <p:cNvPr id="343" name="Shape 340"/>
          <p:cNvSpPr/>
          <p:nvPr/>
        </p:nvSpPr>
        <p:spPr>
          <a:xfrm>
            <a:off x="10496550" y="5258619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44" name="Shape 341"/>
          <p:cNvSpPr/>
          <p:nvPr/>
        </p:nvSpPr>
        <p:spPr>
          <a:xfrm>
            <a:off x="10496550" y="5258619"/>
            <a:ext cx="792435" cy="95250"/>
          </a:xfrm>
          <a:prstGeom prst="roundRect">
            <a:avLst>
              <a:gd name="adj" fmla="val 20000"/>
            </a:avLst>
          </a:prstGeom>
          <a:solidFill>
            <a:srgbClr val="7F98B5"/>
          </a:solidFill>
          <a:ln/>
        </p:spPr>
      </p:sp>
      <p:sp>
        <p:nvSpPr>
          <p:cNvPr id="345" name="Shape 342"/>
          <p:cNvSpPr/>
          <p:nvPr/>
        </p:nvSpPr>
        <p:spPr>
          <a:xfrm>
            <a:off x="11024815" y="5230044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46" name="Text 343"/>
          <p:cNvSpPr/>
          <p:nvPr/>
        </p:nvSpPr>
        <p:spPr>
          <a:xfrm>
            <a:off x="11468100" y="5244331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825" dirty="0"/>
          </a:p>
        </p:txBody>
      </p:sp>
      <p:sp>
        <p:nvSpPr>
          <p:cNvPr id="347" name="Text 344"/>
          <p:cNvSpPr/>
          <p:nvPr/>
        </p:nvSpPr>
        <p:spPr>
          <a:xfrm>
            <a:off x="9734550" y="5581799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Hire-to-exit</a:t>
            </a:r>
            <a:endParaRPr lang="en-US" sz="788" dirty="0"/>
          </a:p>
        </p:txBody>
      </p:sp>
      <p:sp>
        <p:nvSpPr>
          <p:cNvPr id="348" name="Shape 345"/>
          <p:cNvSpPr/>
          <p:nvPr/>
        </p:nvSpPr>
        <p:spPr>
          <a:xfrm>
            <a:off x="10496550" y="5591696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49" name="Shape 346"/>
          <p:cNvSpPr/>
          <p:nvPr/>
        </p:nvSpPr>
        <p:spPr>
          <a:xfrm>
            <a:off x="10496550" y="5591696"/>
            <a:ext cx="305395" cy="95250"/>
          </a:xfrm>
          <a:prstGeom prst="roundRect">
            <a:avLst>
              <a:gd name="adj" fmla="val 20000"/>
            </a:avLst>
          </a:prstGeom>
          <a:solidFill>
            <a:srgbClr val="7F98B5"/>
          </a:solidFill>
          <a:ln/>
        </p:spPr>
      </p:sp>
      <p:sp>
        <p:nvSpPr>
          <p:cNvPr id="350" name="Shape 347"/>
          <p:cNvSpPr/>
          <p:nvPr/>
        </p:nvSpPr>
        <p:spPr>
          <a:xfrm>
            <a:off x="11024815" y="5563121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51" name="Text 348"/>
          <p:cNvSpPr/>
          <p:nvPr/>
        </p:nvSpPr>
        <p:spPr>
          <a:xfrm>
            <a:off x="11468100" y="5577408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</a:t>
            </a:r>
            <a:endParaRPr lang="en-US" sz="825" dirty="0"/>
          </a:p>
        </p:txBody>
      </p:sp>
      <p:sp>
        <p:nvSpPr>
          <p:cNvPr id="352" name="Text 349"/>
          <p:cNvSpPr/>
          <p:nvPr/>
        </p:nvSpPr>
        <p:spPr>
          <a:xfrm>
            <a:off x="9734550" y="5914802"/>
            <a:ext cx="781050" cy="153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788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 55+</a:t>
            </a:r>
            <a:endParaRPr lang="en-US" sz="788" dirty="0"/>
          </a:p>
        </p:txBody>
      </p:sp>
      <p:sp>
        <p:nvSpPr>
          <p:cNvPr id="353" name="Shape 350"/>
          <p:cNvSpPr/>
          <p:nvPr/>
        </p:nvSpPr>
        <p:spPr>
          <a:xfrm>
            <a:off x="10496550" y="5924699"/>
            <a:ext cx="990600" cy="9525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354" name="Shape 351"/>
          <p:cNvSpPr/>
          <p:nvPr/>
        </p:nvSpPr>
        <p:spPr>
          <a:xfrm>
            <a:off x="10496550" y="5924699"/>
            <a:ext cx="891480" cy="95250"/>
          </a:xfrm>
          <a:prstGeom prst="roundRect">
            <a:avLst>
              <a:gd name="adj" fmla="val 20000"/>
            </a:avLst>
          </a:prstGeom>
          <a:solidFill>
            <a:srgbClr val="7F98B5"/>
          </a:solidFill>
          <a:ln/>
        </p:spPr>
      </p:sp>
      <p:sp>
        <p:nvSpPr>
          <p:cNvPr id="355" name="Shape 352"/>
          <p:cNvSpPr/>
          <p:nvPr/>
        </p:nvSpPr>
        <p:spPr>
          <a:xfrm>
            <a:off x="11177588" y="5896124"/>
            <a:ext cx="19050" cy="15240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56" name="Text 353"/>
          <p:cNvSpPr/>
          <p:nvPr/>
        </p:nvSpPr>
        <p:spPr>
          <a:xfrm>
            <a:off x="11468100" y="5910411"/>
            <a:ext cx="438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825" dirty="0"/>
          </a:p>
        </p:txBody>
      </p:sp>
      <p:sp>
        <p:nvSpPr>
          <p:cNvPr id="357" name="Shape 354"/>
          <p:cNvSpPr/>
          <p:nvPr/>
        </p:nvSpPr>
        <p:spPr>
          <a:xfrm>
            <a:off x="9734550" y="6222206"/>
            <a:ext cx="19050" cy="95250"/>
          </a:xfrm>
          <a:prstGeom prst="rect">
            <a:avLst/>
          </a:prstGeom>
          <a:solidFill>
            <a:srgbClr val="2B3440"/>
          </a:solidFill>
          <a:ln/>
        </p:spPr>
      </p:sp>
      <p:sp>
        <p:nvSpPr>
          <p:cNvPr id="358" name="Text 355"/>
          <p:cNvSpPr/>
          <p:nvPr/>
        </p:nvSpPr>
        <p:spPr>
          <a:xfrm>
            <a:off x="9801225" y="6215063"/>
            <a:ext cx="891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All-agency average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0075"/>
            <a:ext cx="121920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538"/>
            <a:ext cx="478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57188"/>
            <a:ext cx="478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agencies replace who left?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15993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36767" y="233362"/>
            <a:ext cx="4192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27466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48240" y="233362"/>
            <a:ext cx="882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02687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23461" y="233362"/>
            <a:ext cx="622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17534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38308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203805" y="166688"/>
            <a:ext cx="844748" cy="266700"/>
          </a:xfrm>
          <a:prstGeom prst="roundRect">
            <a:avLst>
              <a:gd name="adj" fmla="val 21429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08580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9354" y="233362"/>
            <a:ext cx="590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91429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12203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76400" cy="659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6875" y="0"/>
            <a:ext cx="9525" cy="6591300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" y="102915"/>
            <a:ext cx="14763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Workforce Shock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3350" y="397148"/>
            <a:ext cx="15401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Leadership · 2018–Jul 2026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3350" y="60960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" y="7524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3350" y="10096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33350" y="11811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075" y="12573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13001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" y="16002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category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3350" y="177165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075" y="184785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189071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" y="21907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33350" y="23622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075" y="24384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24812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" y="27813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33350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75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2018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62013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438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825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350" y="35718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filters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3350" y="550545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" y="561022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3350" y="58054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285750" y="5791200"/>
            <a:ext cx="9535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/ policy shock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33350" y="5986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285750" y="5972175"/>
            <a:ext cx="8624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values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33350" y="616743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5750" y="6153150"/>
            <a:ext cx="4255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33350" y="63484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285750" y="6334125"/>
            <a:ext cx="559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676400" y="6591300"/>
            <a:ext cx="10515600" cy="266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676400" y="6591300"/>
            <a:ext cx="105156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0" y="6672263"/>
            <a:ext cx="8410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OPM Federal Workforce Data (record-level employment snapshots, separations, accessions), Jan 2018 – Jul 2026 · BLS JOLTS quits rates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9626798" y="6672263"/>
            <a:ext cx="2654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31 Jul 2026 · All figures are sample placeholders</a:t>
            </a:r>
            <a:endParaRPr lang="en-US" sz="788" dirty="0"/>
          </a:p>
        </p:txBody>
      </p:sp>
      <p:sp>
        <p:nvSpPr>
          <p:cNvPr id="61" name="Shape 59"/>
          <p:cNvSpPr/>
          <p:nvPr/>
        </p:nvSpPr>
        <p:spPr>
          <a:xfrm>
            <a:off x="1828800" y="762000"/>
            <a:ext cx="4165550" cy="5676900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962150" y="876300"/>
            <a:ext cx="3304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SEPARATIONS VS ACCESSIONS · OCCUPATION GROUP · 12M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5246787" y="876300"/>
            <a:ext cx="614214" cy="247650"/>
          </a:xfrm>
          <a:prstGeom prst="roundRect">
            <a:avLst>
              <a:gd name="adj" fmla="val 11538"/>
            </a:avLst>
          </a:prstGeom>
          <a:solidFill>
            <a:srgbClr val="EE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5303937" y="904875"/>
            <a:ext cx="5761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962150" y="1214438"/>
            <a:ext cx="95250" cy="9525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6" name="Text 64"/>
          <p:cNvSpPr/>
          <p:nvPr/>
        </p:nvSpPr>
        <p:spPr>
          <a:xfrm>
            <a:off x="2114550" y="1200150"/>
            <a:ext cx="86632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separations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3038029" y="1214438"/>
            <a:ext cx="95250" cy="952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8" name="Text 66"/>
          <p:cNvSpPr/>
          <p:nvPr/>
        </p:nvSpPr>
        <p:spPr>
          <a:xfrm>
            <a:off x="3190429" y="1200150"/>
            <a:ext cx="9090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separations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4156621" y="1214438"/>
            <a:ext cx="95250" cy="95250"/>
          </a:xfrm>
          <a:prstGeom prst="rect">
            <a:avLst/>
          </a:prstGeom>
          <a:solidFill>
            <a:srgbClr val="8FA9C8"/>
          </a:solidFill>
          <a:ln/>
        </p:spPr>
      </p:sp>
      <p:sp>
        <p:nvSpPr>
          <p:cNvPr id="70" name="Text 68"/>
          <p:cNvSpPr/>
          <p:nvPr/>
        </p:nvSpPr>
        <p:spPr>
          <a:xfrm>
            <a:off x="4309021" y="1200150"/>
            <a:ext cx="6061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Accessions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3181350" y="1400175"/>
            <a:ext cx="7378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Separations</a:t>
            </a:r>
            <a:endParaRPr lang="en-US" sz="788" dirty="0"/>
          </a:p>
        </p:txBody>
      </p:sp>
      <p:sp>
        <p:nvSpPr>
          <p:cNvPr id="72" name="Text 70"/>
          <p:cNvSpPr/>
          <p:nvPr/>
        </p:nvSpPr>
        <p:spPr>
          <a:xfrm>
            <a:off x="5151165" y="1400175"/>
            <a:ext cx="70983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Accessions →</a:t>
            </a:r>
            <a:endParaRPr lang="en-US" sz="788" dirty="0"/>
          </a:p>
        </p:txBody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1590675"/>
            <a:ext cx="3895725" cy="4733925"/>
          </a:xfrm>
          <a:prstGeom prst="rect">
            <a:avLst/>
          </a:prstGeom>
        </p:spPr>
      </p:pic>
      <p:sp>
        <p:nvSpPr>
          <p:cNvPr id="74" name="Shape 71"/>
          <p:cNvSpPr/>
          <p:nvPr/>
        </p:nvSpPr>
        <p:spPr>
          <a:xfrm>
            <a:off x="6146750" y="762000"/>
            <a:ext cx="589277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6280100" y="1009650"/>
            <a:ext cx="1215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REFILL RATIO</a:t>
            </a:r>
            <a:endParaRPr lang="en-US" sz="825" dirty="0"/>
          </a:p>
        </p:txBody>
      </p:sp>
      <p:sp>
        <p:nvSpPr>
          <p:cNvPr id="76" name="Text 73"/>
          <p:cNvSpPr/>
          <p:nvPr/>
        </p:nvSpPr>
        <p:spPr>
          <a:xfrm>
            <a:off x="6280100" y="1190625"/>
            <a:ext cx="7065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</a:t>
            </a:r>
            <a:endParaRPr lang="en-US" sz="2550" dirty="0"/>
          </a:p>
        </p:txBody>
      </p:sp>
      <p:sp>
        <p:nvSpPr>
          <p:cNvPr id="77" name="Text 74"/>
          <p:cNvSpPr/>
          <p:nvPr/>
        </p:nvSpPr>
        <p:spPr>
          <a:xfrm>
            <a:off x="6986662" y="1362075"/>
            <a:ext cx="7305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hires per exit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6280100" y="1571625"/>
            <a:ext cx="23050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Accessions ÷ separations, last 12 months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11257062" y="923925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80" name="Text 77"/>
          <p:cNvSpPr/>
          <p:nvPr/>
        </p:nvSpPr>
        <p:spPr>
          <a:xfrm>
            <a:off x="11314212" y="952500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8604200" y="1152525"/>
            <a:ext cx="838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Separations</a:t>
            </a:r>
            <a:endParaRPr lang="en-US" sz="825" dirty="0"/>
          </a:p>
        </p:txBody>
      </p:sp>
      <p:sp>
        <p:nvSpPr>
          <p:cNvPr id="82" name="Shape 79"/>
          <p:cNvSpPr/>
          <p:nvPr/>
        </p:nvSpPr>
        <p:spPr>
          <a:xfrm>
            <a:off x="9442400" y="1157288"/>
            <a:ext cx="1892275" cy="114300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/>
        </p:spPr>
      </p:sp>
      <p:sp>
        <p:nvSpPr>
          <p:cNvPr id="83" name="Text 80"/>
          <p:cNvSpPr/>
          <p:nvPr/>
        </p:nvSpPr>
        <p:spPr>
          <a:xfrm>
            <a:off x="11334676" y="1152525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48.8K</a:t>
            </a:r>
            <a:endParaRPr lang="en-US" sz="825" dirty="0"/>
          </a:p>
        </p:txBody>
      </p:sp>
      <p:sp>
        <p:nvSpPr>
          <p:cNvPr id="84" name="Text 81"/>
          <p:cNvSpPr/>
          <p:nvPr/>
        </p:nvSpPr>
        <p:spPr>
          <a:xfrm>
            <a:off x="8604200" y="1352550"/>
            <a:ext cx="838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Accessions</a:t>
            </a:r>
            <a:endParaRPr lang="en-US" sz="825" dirty="0"/>
          </a:p>
        </p:txBody>
      </p:sp>
      <p:sp>
        <p:nvSpPr>
          <p:cNvPr id="85" name="Shape 82"/>
          <p:cNvSpPr/>
          <p:nvPr/>
        </p:nvSpPr>
        <p:spPr>
          <a:xfrm>
            <a:off x="9442400" y="1357313"/>
            <a:ext cx="870421" cy="114300"/>
          </a:xfrm>
          <a:prstGeom prst="roundRect">
            <a:avLst>
              <a:gd name="adj" fmla="val 16667"/>
            </a:avLst>
          </a:prstGeom>
          <a:solidFill>
            <a:srgbClr val="8FA9C8"/>
          </a:solidFill>
          <a:ln/>
        </p:spPr>
      </p:sp>
      <p:sp>
        <p:nvSpPr>
          <p:cNvPr id="86" name="Text 83"/>
          <p:cNvSpPr/>
          <p:nvPr/>
        </p:nvSpPr>
        <p:spPr>
          <a:xfrm>
            <a:off x="11334676" y="1352550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22.3K</a:t>
            </a:r>
            <a:endParaRPr lang="en-US" sz="825" dirty="0"/>
          </a:p>
        </p:txBody>
      </p:sp>
      <p:sp>
        <p:nvSpPr>
          <p:cNvPr id="87" name="Text 84"/>
          <p:cNvSpPr/>
          <p:nvPr/>
        </p:nvSpPr>
        <p:spPr>
          <a:xfrm>
            <a:off x="8604200" y="1552575"/>
            <a:ext cx="34010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= engineering, IT, physical sciences, biological sciences, math &amp; statistics</a:t>
            </a:r>
            <a:endParaRPr lang="en-US" sz="788" dirty="0"/>
          </a:p>
        </p:txBody>
      </p:sp>
      <p:sp>
        <p:nvSpPr>
          <p:cNvPr id="88" name="Shape 85"/>
          <p:cNvSpPr/>
          <p:nvPr/>
        </p:nvSpPr>
        <p:spPr>
          <a:xfrm>
            <a:off x="6146750" y="2095500"/>
            <a:ext cx="5892775" cy="434340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89" name="Text 86"/>
          <p:cNvSpPr/>
          <p:nvPr/>
        </p:nvSpPr>
        <p:spPr>
          <a:xfrm>
            <a:off x="6280100" y="2224088"/>
            <a:ext cx="29051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HIRE-TO-EXIT RATIO · OCCUPATION × AGENCY</a:t>
            </a:r>
            <a:endParaRPr lang="en-US" sz="825" dirty="0"/>
          </a:p>
        </p:txBody>
      </p:sp>
      <p:sp>
        <p:nvSpPr>
          <p:cNvPr id="90" name="Shape 87"/>
          <p:cNvSpPr/>
          <p:nvPr/>
        </p:nvSpPr>
        <p:spPr>
          <a:xfrm>
            <a:off x="11257062" y="2209800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91" name="Text 88"/>
          <p:cNvSpPr/>
          <p:nvPr/>
        </p:nvSpPr>
        <p:spPr>
          <a:xfrm>
            <a:off x="11314212" y="2238375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92" name="Text 89"/>
          <p:cNvSpPr/>
          <p:nvPr/>
        </p:nvSpPr>
        <p:spPr>
          <a:xfrm>
            <a:off x="7699325" y="2438400"/>
            <a:ext cx="5722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endParaRPr lang="en-US" sz="788" dirty="0"/>
          </a:p>
        </p:txBody>
      </p:sp>
      <p:sp>
        <p:nvSpPr>
          <p:cNvPr id="93" name="Text 90"/>
          <p:cNvSpPr/>
          <p:nvPr/>
        </p:nvSpPr>
        <p:spPr>
          <a:xfrm>
            <a:off x="8223945" y="2438400"/>
            <a:ext cx="5723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</a:t>
            </a:r>
            <a:endParaRPr lang="en-US" sz="788" dirty="0"/>
          </a:p>
        </p:txBody>
      </p:sp>
      <p:sp>
        <p:nvSpPr>
          <p:cNvPr id="94" name="Text 91"/>
          <p:cNvSpPr/>
          <p:nvPr/>
        </p:nvSpPr>
        <p:spPr>
          <a:xfrm>
            <a:off x="8748638" y="2438400"/>
            <a:ext cx="5722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endParaRPr lang="en-US" sz="788" dirty="0"/>
          </a:p>
        </p:txBody>
      </p:sp>
      <p:sp>
        <p:nvSpPr>
          <p:cNvPr id="95" name="Text 92"/>
          <p:cNvSpPr/>
          <p:nvPr/>
        </p:nvSpPr>
        <p:spPr>
          <a:xfrm>
            <a:off x="9273257" y="2438400"/>
            <a:ext cx="5723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HHS</a:t>
            </a:r>
            <a:endParaRPr lang="en-US" sz="788" dirty="0"/>
          </a:p>
        </p:txBody>
      </p:sp>
      <p:sp>
        <p:nvSpPr>
          <p:cNvPr id="96" name="Text 93"/>
          <p:cNvSpPr/>
          <p:nvPr/>
        </p:nvSpPr>
        <p:spPr>
          <a:xfrm>
            <a:off x="9797951" y="2438400"/>
            <a:ext cx="5723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</a:t>
            </a:r>
            <a:endParaRPr lang="en-US" sz="788" dirty="0"/>
          </a:p>
        </p:txBody>
      </p:sp>
      <p:sp>
        <p:nvSpPr>
          <p:cNvPr id="97" name="Text 94"/>
          <p:cNvSpPr/>
          <p:nvPr/>
        </p:nvSpPr>
        <p:spPr>
          <a:xfrm>
            <a:off x="10322644" y="2438400"/>
            <a:ext cx="5722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</a:t>
            </a:r>
            <a:endParaRPr lang="en-US" sz="788" dirty="0"/>
          </a:p>
        </p:txBody>
      </p:sp>
      <p:sp>
        <p:nvSpPr>
          <p:cNvPr id="98" name="Text 95"/>
          <p:cNvSpPr/>
          <p:nvPr/>
        </p:nvSpPr>
        <p:spPr>
          <a:xfrm>
            <a:off x="10847263" y="2438400"/>
            <a:ext cx="5723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</a:t>
            </a:r>
            <a:endParaRPr lang="en-US" sz="788" dirty="0"/>
          </a:p>
        </p:txBody>
      </p:sp>
      <p:sp>
        <p:nvSpPr>
          <p:cNvPr id="99" name="Text 96"/>
          <p:cNvSpPr/>
          <p:nvPr/>
        </p:nvSpPr>
        <p:spPr>
          <a:xfrm>
            <a:off x="11371957" y="2438400"/>
            <a:ext cx="5723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</a:t>
            </a:r>
            <a:endParaRPr lang="en-US" sz="788" dirty="0"/>
          </a:p>
        </p:txBody>
      </p:sp>
      <p:sp>
        <p:nvSpPr>
          <p:cNvPr id="100" name="Text 97"/>
          <p:cNvSpPr/>
          <p:nvPr/>
        </p:nvSpPr>
        <p:spPr>
          <a:xfrm>
            <a:off x="6280100" y="2749004"/>
            <a:ext cx="850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health</a:t>
            </a:r>
            <a:endParaRPr lang="en-US" sz="825" dirty="0"/>
          </a:p>
        </p:txBody>
      </p:sp>
      <p:sp>
        <p:nvSpPr>
          <p:cNvPr id="101" name="Shape 98"/>
          <p:cNvSpPr/>
          <p:nvPr/>
        </p:nvSpPr>
        <p:spPr>
          <a:xfrm>
            <a:off x="7737425" y="2628900"/>
            <a:ext cx="496044" cy="364034"/>
          </a:xfrm>
          <a:prstGeom prst="roundRect">
            <a:avLst>
              <a:gd name="adj" fmla="val 7850"/>
            </a:avLst>
          </a:prstGeom>
          <a:solidFill>
            <a:srgbClr val="C1CFE0"/>
          </a:solidFill>
          <a:ln/>
        </p:spPr>
      </p:sp>
      <p:sp>
        <p:nvSpPr>
          <p:cNvPr id="102" name="Text 99"/>
          <p:cNvSpPr/>
          <p:nvPr/>
        </p:nvSpPr>
        <p:spPr>
          <a:xfrm>
            <a:off x="7883426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1.22</a:t>
            </a:r>
            <a:endParaRPr lang="en-US" sz="825" dirty="0"/>
          </a:p>
        </p:txBody>
      </p:sp>
      <p:sp>
        <p:nvSpPr>
          <p:cNvPr id="103" name="Shape 100"/>
          <p:cNvSpPr/>
          <p:nvPr/>
        </p:nvSpPr>
        <p:spPr>
          <a:xfrm>
            <a:off x="8262045" y="2628900"/>
            <a:ext cx="496119" cy="364034"/>
          </a:xfrm>
          <a:prstGeom prst="roundRect">
            <a:avLst>
              <a:gd name="adj" fmla="val 7850"/>
            </a:avLst>
          </a:prstGeom>
          <a:solidFill>
            <a:srgbClr val="B5C6DA"/>
          </a:solidFill>
          <a:ln/>
        </p:spPr>
      </p:sp>
      <p:sp>
        <p:nvSpPr>
          <p:cNvPr id="104" name="Text 101"/>
          <p:cNvSpPr/>
          <p:nvPr/>
        </p:nvSpPr>
        <p:spPr>
          <a:xfrm>
            <a:off x="8408119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</a:t>
            </a:r>
            <a:endParaRPr lang="en-US" sz="825" dirty="0"/>
          </a:p>
        </p:txBody>
      </p:sp>
      <p:sp>
        <p:nvSpPr>
          <p:cNvPr id="105" name="Shape 102"/>
          <p:cNvSpPr/>
          <p:nvPr/>
        </p:nvSpPr>
        <p:spPr>
          <a:xfrm>
            <a:off x="8786738" y="2628900"/>
            <a:ext cx="496044" cy="364034"/>
          </a:xfrm>
          <a:prstGeom prst="roundRect">
            <a:avLst>
              <a:gd name="adj" fmla="val 7850"/>
            </a:avLst>
          </a:prstGeom>
          <a:solidFill>
            <a:srgbClr val="D9847A"/>
          </a:solidFill>
          <a:ln/>
        </p:spPr>
      </p:sp>
      <p:sp>
        <p:nvSpPr>
          <p:cNvPr id="106" name="Text 103"/>
          <p:cNvSpPr/>
          <p:nvPr/>
        </p:nvSpPr>
        <p:spPr>
          <a:xfrm>
            <a:off x="8932738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</a:t>
            </a:r>
            <a:endParaRPr lang="en-US" sz="825" dirty="0"/>
          </a:p>
        </p:txBody>
      </p:sp>
      <p:sp>
        <p:nvSpPr>
          <p:cNvPr id="107" name="Shape 104"/>
          <p:cNvSpPr/>
          <p:nvPr/>
        </p:nvSpPr>
        <p:spPr>
          <a:xfrm>
            <a:off x="9311357" y="2628900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5A9A2"/>
          </a:solidFill>
          <a:ln/>
        </p:spPr>
      </p:sp>
      <p:sp>
        <p:nvSpPr>
          <p:cNvPr id="108" name="Text 105"/>
          <p:cNvSpPr/>
          <p:nvPr/>
        </p:nvSpPr>
        <p:spPr>
          <a:xfrm>
            <a:off x="9457432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825" dirty="0"/>
          </a:p>
        </p:txBody>
      </p:sp>
      <p:sp>
        <p:nvSpPr>
          <p:cNvPr id="109" name="Shape 106"/>
          <p:cNvSpPr/>
          <p:nvPr/>
        </p:nvSpPr>
        <p:spPr>
          <a:xfrm>
            <a:off x="9836051" y="2628900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5A9A2"/>
          </a:solidFill>
          <a:ln/>
        </p:spPr>
      </p:sp>
      <p:sp>
        <p:nvSpPr>
          <p:cNvPr id="110" name="Text 107"/>
          <p:cNvSpPr/>
          <p:nvPr/>
        </p:nvSpPr>
        <p:spPr>
          <a:xfrm>
            <a:off x="9982126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825" dirty="0"/>
          </a:p>
        </p:txBody>
      </p:sp>
      <p:sp>
        <p:nvSpPr>
          <p:cNvPr id="111" name="Shape 108"/>
          <p:cNvSpPr/>
          <p:nvPr/>
        </p:nvSpPr>
        <p:spPr>
          <a:xfrm>
            <a:off x="10360744" y="2628900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29F98"/>
          </a:solidFill>
          <a:ln/>
        </p:spPr>
      </p:sp>
      <p:sp>
        <p:nvSpPr>
          <p:cNvPr id="112" name="Text 109"/>
          <p:cNvSpPr/>
          <p:nvPr/>
        </p:nvSpPr>
        <p:spPr>
          <a:xfrm>
            <a:off x="10506745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825" dirty="0"/>
          </a:p>
        </p:txBody>
      </p:sp>
      <p:sp>
        <p:nvSpPr>
          <p:cNvPr id="113" name="Shape 110"/>
          <p:cNvSpPr/>
          <p:nvPr/>
        </p:nvSpPr>
        <p:spPr>
          <a:xfrm>
            <a:off x="10885363" y="2628900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3A29A"/>
          </a:solidFill>
          <a:ln/>
        </p:spPr>
      </p:sp>
      <p:sp>
        <p:nvSpPr>
          <p:cNvPr id="114" name="Text 111"/>
          <p:cNvSpPr/>
          <p:nvPr/>
        </p:nvSpPr>
        <p:spPr>
          <a:xfrm>
            <a:off x="11031438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825" dirty="0"/>
          </a:p>
        </p:txBody>
      </p:sp>
      <p:sp>
        <p:nvSpPr>
          <p:cNvPr id="115" name="Shape 112"/>
          <p:cNvSpPr/>
          <p:nvPr/>
        </p:nvSpPr>
        <p:spPr>
          <a:xfrm>
            <a:off x="11410057" y="2628900"/>
            <a:ext cx="496119" cy="364034"/>
          </a:xfrm>
          <a:prstGeom prst="roundRect">
            <a:avLst>
              <a:gd name="adj" fmla="val 7850"/>
            </a:avLst>
          </a:prstGeom>
          <a:solidFill>
            <a:srgbClr val="DAE2ED"/>
          </a:solidFill>
          <a:ln/>
        </p:spPr>
      </p:sp>
      <p:sp>
        <p:nvSpPr>
          <p:cNvPr id="116" name="Text 113"/>
          <p:cNvSpPr/>
          <p:nvPr/>
        </p:nvSpPr>
        <p:spPr>
          <a:xfrm>
            <a:off x="11556132" y="27490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825" dirty="0"/>
          </a:p>
        </p:txBody>
      </p:sp>
      <p:sp>
        <p:nvSpPr>
          <p:cNvPr id="117" name="Text 114"/>
          <p:cNvSpPr/>
          <p:nvPr/>
        </p:nvSpPr>
        <p:spPr>
          <a:xfrm>
            <a:off x="6280100" y="3141613"/>
            <a:ext cx="80813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management</a:t>
            </a:r>
            <a:endParaRPr lang="en-US" sz="825" dirty="0"/>
          </a:p>
        </p:txBody>
      </p:sp>
      <p:sp>
        <p:nvSpPr>
          <p:cNvPr id="118" name="Shape 115"/>
          <p:cNvSpPr/>
          <p:nvPr/>
        </p:nvSpPr>
        <p:spPr>
          <a:xfrm>
            <a:off x="7737425" y="3021509"/>
            <a:ext cx="496044" cy="364108"/>
          </a:xfrm>
          <a:prstGeom prst="roundRect">
            <a:avLst>
              <a:gd name="adj" fmla="val 7848"/>
            </a:avLst>
          </a:prstGeom>
          <a:solidFill>
            <a:srgbClr val="C95549"/>
          </a:solidFill>
          <a:ln/>
        </p:spPr>
      </p:sp>
      <p:sp>
        <p:nvSpPr>
          <p:cNvPr id="119" name="Text 116"/>
          <p:cNvSpPr/>
          <p:nvPr/>
        </p:nvSpPr>
        <p:spPr>
          <a:xfrm>
            <a:off x="7883426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</a:t>
            </a:r>
            <a:endParaRPr lang="en-US" sz="825" dirty="0"/>
          </a:p>
        </p:txBody>
      </p:sp>
      <p:sp>
        <p:nvSpPr>
          <p:cNvPr id="120" name="Shape 117"/>
          <p:cNvSpPr/>
          <p:nvPr/>
        </p:nvSpPr>
        <p:spPr>
          <a:xfrm>
            <a:off x="8262045" y="3021509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C8D84"/>
          </a:solidFill>
          <a:ln/>
        </p:spPr>
      </p:sp>
      <p:sp>
        <p:nvSpPr>
          <p:cNvPr id="121" name="Text 118"/>
          <p:cNvSpPr/>
          <p:nvPr/>
        </p:nvSpPr>
        <p:spPr>
          <a:xfrm>
            <a:off x="8408119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</a:t>
            </a:r>
            <a:endParaRPr lang="en-US" sz="825" dirty="0"/>
          </a:p>
        </p:txBody>
      </p:sp>
      <p:sp>
        <p:nvSpPr>
          <p:cNvPr id="122" name="Shape 119"/>
          <p:cNvSpPr/>
          <p:nvPr/>
        </p:nvSpPr>
        <p:spPr>
          <a:xfrm>
            <a:off x="8786738" y="3021509"/>
            <a:ext cx="496044" cy="364108"/>
          </a:xfrm>
          <a:prstGeom prst="roundRect">
            <a:avLst>
              <a:gd name="adj" fmla="val 7848"/>
            </a:avLst>
          </a:prstGeom>
          <a:solidFill>
            <a:srgbClr val="D37369"/>
          </a:solidFill>
          <a:ln/>
        </p:spPr>
      </p:sp>
      <p:sp>
        <p:nvSpPr>
          <p:cNvPr id="123" name="Text 120"/>
          <p:cNvSpPr/>
          <p:nvPr/>
        </p:nvSpPr>
        <p:spPr>
          <a:xfrm>
            <a:off x="8932738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825" dirty="0"/>
          </a:p>
        </p:txBody>
      </p:sp>
      <p:sp>
        <p:nvSpPr>
          <p:cNvPr id="124" name="Shape 121"/>
          <p:cNvSpPr/>
          <p:nvPr/>
        </p:nvSpPr>
        <p:spPr>
          <a:xfrm>
            <a:off x="9311357" y="3021509"/>
            <a:ext cx="496119" cy="364108"/>
          </a:xfrm>
          <a:prstGeom prst="roundRect">
            <a:avLst>
              <a:gd name="adj" fmla="val 7848"/>
            </a:avLst>
          </a:prstGeom>
          <a:solidFill>
            <a:srgbClr val="A7BBD2"/>
          </a:solidFill>
          <a:ln/>
        </p:spPr>
      </p:sp>
      <p:sp>
        <p:nvSpPr>
          <p:cNvPr id="125" name="Text 122"/>
          <p:cNvSpPr/>
          <p:nvPr/>
        </p:nvSpPr>
        <p:spPr>
          <a:xfrm>
            <a:off x="9457432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825" dirty="0"/>
          </a:p>
        </p:txBody>
      </p:sp>
      <p:sp>
        <p:nvSpPr>
          <p:cNvPr id="126" name="Shape 123"/>
          <p:cNvSpPr/>
          <p:nvPr/>
        </p:nvSpPr>
        <p:spPr>
          <a:xfrm>
            <a:off x="9836051" y="3021509"/>
            <a:ext cx="496119" cy="364108"/>
          </a:xfrm>
          <a:prstGeom prst="roundRect">
            <a:avLst>
              <a:gd name="adj" fmla="val 7848"/>
            </a:avLst>
          </a:prstGeom>
          <a:solidFill>
            <a:srgbClr val="CE6357"/>
          </a:solidFill>
          <a:ln/>
        </p:spPr>
      </p:sp>
      <p:sp>
        <p:nvSpPr>
          <p:cNvPr id="127" name="Text 124"/>
          <p:cNvSpPr/>
          <p:nvPr/>
        </p:nvSpPr>
        <p:spPr>
          <a:xfrm>
            <a:off x="9982126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</a:t>
            </a:r>
            <a:endParaRPr lang="en-US" sz="825" dirty="0"/>
          </a:p>
        </p:txBody>
      </p:sp>
      <p:sp>
        <p:nvSpPr>
          <p:cNvPr id="128" name="Shape 125"/>
          <p:cNvSpPr/>
          <p:nvPr/>
        </p:nvSpPr>
        <p:spPr>
          <a:xfrm>
            <a:off x="10360744" y="3021509"/>
            <a:ext cx="496044" cy="364108"/>
          </a:xfrm>
          <a:prstGeom prst="roundRect">
            <a:avLst>
              <a:gd name="adj" fmla="val 7848"/>
            </a:avLst>
          </a:prstGeom>
          <a:solidFill>
            <a:srgbClr val="C13B2D"/>
          </a:solidFill>
          <a:ln/>
        </p:spPr>
      </p:sp>
      <p:sp>
        <p:nvSpPr>
          <p:cNvPr id="129" name="Text 126"/>
          <p:cNvSpPr/>
          <p:nvPr/>
        </p:nvSpPr>
        <p:spPr>
          <a:xfrm>
            <a:off x="10506745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825" dirty="0"/>
          </a:p>
        </p:txBody>
      </p:sp>
      <p:sp>
        <p:nvSpPr>
          <p:cNvPr id="130" name="Shape 127"/>
          <p:cNvSpPr/>
          <p:nvPr/>
        </p:nvSpPr>
        <p:spPr>
          <a:xfrm>
            <a:off x="10885363" y="3021509"/>
            <a:ext cx="496119" cy="364108"/>
          </a:xfrm>
          <a:prstGeom prst="roundRect">
            <a:avLst>
              <a:gd name="adj" fmla="val 7848"/>
            </a:avLst>
          </a:prstGeom>
          <a:solidFill>
            <a:srgbClr val="F1CCC7"/>
          </a:solidFill>
          <a:ln/>
        </p:spPr>
      </p:sp>
      <p:sp>
        <p:nvSpPr>
          <p:cNvPr id="131" name="Text 128"/>
          <p:cNvSpPr/>
          <p:nvPr/>
        </p:nvSpPr>
        <p:spPr>
          <a:xfrm>
            <a:off x="11031438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825" dirty="0"/>
          </a:p>
        </p:txBody>
      </p:sp>
      <p:sp>
        <p:nvSpPr>
          <p:cNvPr id="132" name="Shape 129"/>
          <p:cNvSpPr/>
          <p:nvPr/>
        </p:nvSpPr>
        <p:spPr>
          <a:xfrm>
            <a:off x="11410057" y="3021509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37369"/>
          </a:solidFill>
          <a:ln/>
        </p:spPr>
      </p:sp>
      <p:sp>
        <p:nvSpPr>
          <p:cNvPr id="133" name="Text 130"/>
          <p:cNvSpPr/>
          <p:nvPr/>
        </p:nvSpPr>
        <p:spPr>
          <a:xfrm>
            <a:off x="11556132" y="314161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825" dirty="0"/>
          </a:p>
        </p:txBody>
      </p:sp>
      <p:sp>
        <p:nvSpPr>
          <p:cNvPr id="134" name="Text 131"/>
          <p:cNvSpPr/>
          <p:nvPr/>
        </p:nvSpPr>
        <p:spPr>
          <a:xfrm>
            <a:off x="6280100" y="3534296"/>
            <a:ext cx="63549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825" dirty="0"/>
          </a:p>
        </p:txBody>
      </p:sp>
      <p:sp>
        <p:nvSpPr>
          <p:cNvPr id="135" name="Shape 132"/>
          <p:cNvSpPr/>
          <p:nvPr/>
        </p:nvSpPr>
        <p:spPr>
          <a:xfrm>
            <a:off x="7737425" y="3414192"/>
            <a:ext cx="496044" cy="364034"/>
          </a:xfrm>
          <a:prstGeom prst="roundRect">
            <a:avLst>
              <a:gd name="adj" fmla="val 7850"/>
            </a:avLst>
          </a:prstGeom>
          <a:solidFill>
            <a:srgbClr val="C13B2D"/>
          </a:solidFill>
          <a:ln/>
        </p:spPr>
      </p:sp>
      <p:sp>
        <p:nvSpPr>
          <p:cNvPr id="136" name="Text 133"/>
          <p:cNvSpPr/>
          <p:nvPr/>
        </p:nvSpPr>
        <p:spPr>
          <a:xfrm>
            <a:off x="7883426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825" dirty="0"/>
          </a:p>
        </p:txBody>
      </p:sp>
      <p:sp>
        <p:nvSpPr>
          <p:cNvPr id="137" name="Shape 134"/>
          <p:cNvSpPr/>
          <p:nvPr/>
        </p:nvSpPr>
        <p:spPr>
          <a:xfrm>
            <a:off x="8262045" y="3414192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3D1E1"/>
          </a:solidFill>
          <a:ln/>
        </p:spPr>
      </p:sp>
      <p:sp>
        <p:nvSpPr>
          <p:cNvPr id="138" name="Text 135"/>
          <p:cNvSpPr/>
          <p:nvPr/>
        </p:nvSpPr>
        <p:spPr>
          <a:xfrm>
            <a:off x="8408119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1.21</a:t>
            </a:r>
            <a:endParaRPr lang="en-US" sz="825" dirty="0"/>
          </a:p>
        </p:txBody>
      </p:sp>
      <p:sp>
        <p:nvSpPr>
          <p:cNvPr id="139" name="Shape 136"/>
          <p:cNvSpPr/>
          <p:nvPr/>
        </p:nvSpPr>
        <p:spPr>
          <a:xfrm>
            <a:off x="8786738" y="3414192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2E9F1"/>
          </a:solidFill>
          <a:ln/>
        </p:spPr>
      </p:sp>
      <p:sp>
        <p:nvSpPr>
          <p:cNvPr id="140" name="Text 137"/>
          <p:cNvSpPr/>
          <p:nvPr/>
        </p:nvSpPr>
        <p:spPr>
          <a:xfrm>
            <a:off x="8932738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825" dirty="0"/>
          </a:p>
        </p:txBody>
      </p:sp>
      <p:sp>
        <p:nvSpPr>
          <p:cNvPr id="141" name="Shape 138"/>
          <p:cNvSpPr/>
          <p:nvPr/>
        </p:nvSpPr>
        <p:spPr>
          <a:xfrm>
            <a:off x="9311357" y="3414192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D6155"/>
          </a:solidFill>
          <a:ln/>
        </p:spPr>
      </p:sp>
      <p:sp>
        <p:nvSpPr>
          <p:cNvPr id="142" name="Text 139"/>
          <p:cNvSpPr/>
          <p:nvPr/>
        </p:nvSpPr>
        <p:spPr>
          <a:xfrm>
            <a:off x="9457432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825" dirty="0"/>
          </a:p>
        </p:txBody>
      </p:sp>
      <p:sp>
        <p:nvSpPr>
          <p:cNvPr id="143" name="Shape 140"/>
          <p:cNvSpPr/>
          <p:nvPr/>
        </p:nvSpPr>
        <p:spPr>
          <a:xfrm>
            <a:off x="9836051" y="3414192"/>
            <a:ext cx="496119" cy="364034"/>
          </a:xfrm>
          <a:prstGeom prst="roundRect">
            <a:avLst>
              <a:gd name="adj" fmla="val 7850"/>
            </a:avLst>
          </a:prstGeom>
          <a:solidFill>
            <a:srgbClr val="D4DEE9"/>
          </a:solidFill>
          <a:ln/>
        </p:spPr>
      </p:sp>
      <p:sp>
        <p:nvSpPr>
          <p:cNvPr id="144" name="Text 141"/>
          <p:cNvSpPr/>
          <p:nvPr/>
        </p:nvSpPr>
        <p:spPr>
          <a:xfrm>
            <a:off x="9982126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</a:t>
            </a:r>
            <a:endParaRPr lang="en-US" sz="825" dirty="0"/>
          </a:p>
        </p:txBody>
      </p:sp>
      <p:sp>
        <p:nvSpPr>
          <p:cNvPr id="145" name="Shape 142"/>
          <p:cNvSpPr/>
          <p:nvPr/>
        </p:nvSpPr>
        <p:spPr>
          <a:xfrm>
            <a:off x="10360744" y="3414192"/>
            <a:ext cx="496044" cy="364034"/>
          </a:xfrm>
          <a:prstGeom prst="roundRect">
            <a:avLst>
              <a:gd name="adj" fmla="val 7850"/>
            </a:avLst>
          </a:prstGeom>
          <a:solidFill>
            <a:srgbClr val="C13B2D"/>
          </a:solidFill>
          <a:ln/>
        </p:spPr>
      </p:sp>
      <p:sp>
        <p:nvSpPr>
          <p:cNvPr id="146" name="Text 143"/>
          <p:cNvSpPr/>
          <p:nvPr/>
        </p:nvSpPr>
        <p:spPr>
          <a:xfrm>
            <a:off x="10506745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825" dirty="0"/>
          </a:p>
        </p:txBody>
      </p:sp>
      <p:sp>
        <p:nvSpPr>
          <p:cNvPr id="147" name="Shape 144"/>
          <p:cNvSpPr/>
          <p:nvPr/>
        </p:nvSpPr>
        <p:spPr>
          <a:xfrm>
            <a:off x="10885363" y="3414192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64C3F"/>
          </a:solidFill>
          <a:ln/>
        </p:spPr>
      </p:sp>
      <p:sp>
        <p:nvSpPr>
          <p:cNvPr id="148" name="Text 145"/>
          <p:cNvSpPr/>
          <p:nvPr/>
        </p:nvSpPr>
        <p:spPr>
          <a:xfrm>
            <a:off x="11031438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</a:t>
            </a:r>
            <a:endParaRPr lang="en-US" sz="825" dirty="0"/>
          </a:p>
        </p:txBody>
      </p:sp>
      <p:sp>
        <p:nvSpPr>
          <p:cNvPr id="149" name="Shape 146"/>
          <p:cNvSpPr/>
          <p:nvPr/>
        </p:nvSpPr>
        <p:spPr>
          <a:xfrm>
            <a:off x="11410057" y="3414192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F685C"/>
          </a:solidFill>
          <a:ln/>
        </p:spPr>
      </p:sp>
      <p:sp>
        <p:nvSpPr>
          <p:cNvPr id="150" name="Text 147"/>
          <p:cNvSpPr/>
          <p:nvPr/>
        </p:nvSpPr>
        <p:spPr>
          <a:xfrm>
            <a:off x="11556132" y="35342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825" dirty="0"/>
          </a:p>
        </p:txBody>
      </p:sp>
      <p:sp>
        <p:nvSpPr>
          <p:cNvPr id="151" name="Text 148"/>
          <p:cNvSpPr/>
          <p:nvPr/>
        </p:nvSpPr>
        <p:spPr>
          <a:xfrm>
            <a:off x="6280100" y="3926904"/>
            <a:ext cx="104321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&amp; budget</a:t>
            </a:r>
            <a:endParaRPr lang="en-US" sz="825" dirty="0"/>
          </a:p>
        </p:txBody>
      </p:sp>
      <p:sp>
        <p:nvSpPr>
          <p:cNvPr id="152" name="Shape 149"/>
          <p:cNvSpPr/>
          <p:nvPr/>
        </p:nvSpPr>
        <p:spPr>
          <a:xfrm>
            <a:off x="7737425" y="3806800"/>
            <a:ext cx="496044" cy="364108"/>
          </a:xfrm>
          <a:prstGeom prst="roundRect">
            <a:avLst>
              <a:gd name="adj" fmla="val 7848"/>
            </a:avLst>
          </a:prstGeom>
          <a:solidFill>
            <a:srgbClr val="C44537"/>
          </a:solidFill>
          <a:ln/>
        </p:spPr>
      </p:sp>
      <p:sp>
        <p:nvSpPr>
          <p:cNvPr id="153" name="Text 150"/>
          <p:cNvSpPr/>
          <p:nvPr/>
        </p:nvSpPr>
        <p:spPr>
          <a:xfrm>
            <a:off x="7883426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</a:t>
            </a:r>
            <a:endParaRPr lang="en-US" sz="825" dirty="0"/>
          </a:p>
        </p:txBody>
      </p:sp>
      <p:sp>
        <p:nvSpPr>
          <p:cNvPr id="154" name="Shape 151"/>
          <p:cNvSpPr/>
          <p:nvPr/>
        </p:nvSpPr>
        <p:spPr>
          <a:xfrm>
            <a:off x="8262045" y="3806800"/>
            <a:ext cx="496119" cy="364108"/>
          </a:xfrm>
          <a:prstGeom prst="roundRect">
            <a:avLst>
              <a:gd name="adj" fmla="val 7848"/>
            </a:avLst>
          </a:prstGeom>
          <a:solidFill>
            <a:srgbClr val="C13B2D"/>
          </a:solidFill>
          <a:ln/>
        </p:spPr>
      </p:sp>
      <p:sp>
        <p:nvSpPr>
          <p:cNvPr id="155" name="Text 152"/>
          <p:cNvSpPr/>
          <p:nvPr/>
        </p:nvSpPr>
        <p:spPr>
          <a:xfrm>
            <a:off x="8408119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825" dirty="0"/>
          </a:p>
        </p:txBody>
      </p:sp>
      <p:sp>
        <p:nvSpPr>
          <p:cNvPr id="156" name="Shape 153"/>
          <p:cNvSpPr/>
          <p:nvPr/>
        </p:nvSpPr>
        <p:spPr>
          <a:xfrm>
            <a:off x="8786738" y="3806800"/>
            <a:ext cx="496044" cy="364108"/>
          </a:xfrm>
          <a:prstGeom prst="roundRect">
            <a:avLst>
              <a:gd name="adj" fmla="val 7848"/>
            </a:avLst>
          </a:prstGeom>
          <a:solidFill>
            <a:srgbClr val="ABBED4"/>
          </a:solidFill>
          <a:ln/>
        </p:spPr>
      </p:sp>
      <p:sp>
        <p:nvSpPr>
          <p:cNvPr id="157" name="Text 154"/>
          <p:cNvSpPr/>
          <p:nvPr/>
        </p:nvSpPr>
        <p:spPr>
          <a:xfrm>
            <a:off x="8932738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1.33</a:t>
            </a:r>
            <a:endParaRPr lang="en-US" sz="825" dirty="0"/>
          </a:p>
        </p:txBody>
      </p:sp>
      <p:sp>
        <p:nvSpPr>
          <p:cNvPr id="158" name="Shape 155"/>
          <p:cNvSpPr/>
          <p:nvPr/>
        </p:nvSpPr>
        <p:spPr>
          <a:xfrm>
            <a:off x="9311357" y="3806800"/>
            <a:ext cx="496119" cy="364108"/>
          </a:xfrm>
          <a:prstGeom prst="roundRect">
            <a:avLst>
              <a:gd name="adj" fmla="val 7848"/>
            </a:avLst>
          </a:prstGeom>
          <a:solidFill>
            <a:srgbClr val="BBCBDD"/>
          </a:solidFill>
          <a:ln/>
        </p:spPr>
      </p:sp>
      <p:sp>
        <p:nvSpPr>
          <p:cNvPr id="159" name="Text 156"/>
          <p:cNvSpPr/>
          <p:nvPr/>
        </p:nvSpPr>
        <p:spPr>
          <a:xfrm>
            <a:off x="9457432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</a:t>
            </a:r>
            <a:endParaRPr lang="en-US" sz="825" dirty="0"/>
          </a:p>
        </p:txBody>
      </p:sp>
      <p:sp>
        <p:nvSpPr>
          <p:cNvPr id="160" name="Shape 157"/>
          <p:cNvSpPr/>
          <p:nvPr/>
        </p:nvSpPr>
        <p:spPr>
          <a:xfrm>
            <a:off x="9836051" y="3806800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0DAE7"/>
          </a:solidFill>
          <a:ln/>
        </p:spPr>
      </p:sp>
      <p:sp>
        <p:nvSpPr>
          <p:cNvPr id="161" name="Text 158"/>
          <p:cNvSpPr/>
          <p:nvPr/>
        </p:nvSpPr>
        <p:spPr>
          <a:xfrm>
            <a:off x="9982126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25" dirty="0"/>
          </a:p>
        </p:txBody>
      </p:sp>
      <p:sp>
        <p:nvSpPr>
          <p:cNvPr id="162" name="Shape 159"/>
          <p:cNvSpPr/>
          <p:nvPr/>
        </p:nvSpPr>
        <p:spPr>
          <a:xfrm>
            <a:off x="10360744" y="3806800"/>
            <a:ext cx="496044" cy="364108"/>
          </a:xfrm>
          <a:prstGeom prst="roundRect">
            <a:avLst>
              <a:gd name="adj" fmla="val 7848"/>
            </a:avLst>
          </a:prstGeom>
          <a:solidFill>
            <a:srgbClr val="ECF0F6"/>
          </a:solidFill>
          <a:ln/>
        </p:spPr>
      </p:sp>
      <p:sp>
        <p:nvSpPr>
          <p:cNvPr id="163" name="Text 160"/>
          <p:cNvSpPr/>
          <p:nvPr/>
        </p:nvSpPr>
        <p:spPr>
          <a:xfrm>
            <a:off x="10506745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825" dirty="0"/>
          </a:p>
        </p:txBody>
      </p:sp>
      <p:sp>
        <p:nvSpPr>
          <p:cNvPr id="164" name="Shape 161"/>
          <p:cNvSpPr/>
          <p:nvPr/>
        </p:nvSpPr>
        <p:spPr>
          <a:xfrm>
            <a:off x="10885363" y="3806800"/>
            <a:ext cx="496119" cy="364108"/>
          </a:xfrm>
          <a:prstGeom prst="roundRect">
            <a:avLst>
              <a:gd name="adj" fmla="val 7848"/>
            </a:avLst>
          </a:prstGeom>
          <a:solidFill>
            <a:srgbClr val="F3D3CE"/>
          </a:solidFill>
          <a:ln/>
        </p:spPr>
      </p:sp>
      <p:sp>
        <p:nvSpPr>
          <p:cNvPr id="165" name="Text 162"/>
          <p:cNvSpPr/>
          <p:nvPr/>
        </p:nvSpPr>
        <p:spPr>
          <a:xfrm>
            <a:off x="11031438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825" dirty="0"/>
          </a:p>
        </p:txBody>
      </p:sp>
      <p:sp>
        <p:nvSpPr>
          <p:cNvPr id="166" name="Shape 163"/>
          <p:cNvSpPr/>
          <p:nvPr/>
        </p:nvSpPr>
        <p:spPr>
          <a:xfrm>
            <a:off x="11410057" y="3806800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0DAE7"/>
          </a:solidFill>
          <a:ln/>
        </p:spPr>
      </p:sp>
      <p:sp>
        <p:nvSpPr>
          <p:cNvPr id="167" name="Text 164"/>
          <p:cNvSpPr/>
          <p:nvPr/>
        </p:nvSpPr>
        <p:spPr>
          <a:xfrm>
            <a:off x="11556132" y="3926904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25" dirty="0"/>
          </a:p>
        </p:txBody>
      </p:sp>
      <p:sp>
        <p:nvSpPr>
          <p:cNvPr id="168" name="Text 165"/>
          <p:cNvSpPr/>
          <p:nvPr/>
        </p:nvSpPr>
        <p:spPr>
          <a:xfrm>
            <a:off x="6280100" y="4319588"/>
            <a:ext cx="13132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program support</a:t>
            </a:r>
            <a:endParaRPr lang="en-US" sz="825" dirty="0"/>
          </a:p>
        </p:txBody>
      </p:sp>
      <p:sp>
        <p:nvSpPr>
          <p:cNvPr id="169" name="Shape 166"/>
          <p:cNvSpPr/>
          <p:nvPr/>
        </p:nvSpPr>
        <p:spPr>
          <a:xfrm>
            <a:off x="7737425" y="4199483"/>
            <a:ext cx="496044" cy="364034"/>
          </a:xfrm>
          <a:prstGeom prst="roundRect">
            <a:avLst>
              <a:gd name="adj" fmla="val 7850"/>
            </a:avLst>
          </a:prstGeom>
          <a:solidFill>
            <a:srgbClr val="D67D73"/>
          </a:solidFill>
          <a:ln/>
        </p:spPr>
      </p:sp>
      <p:sp>
        <p:nvSpPr>
          <p:cNvPr id="170" name="Text 167"/>
          <p:cNvSpPr/>
          <p:nvPr/>
        </p:nvSpPr>
        <p:spPr>
          <a:xfrm>
            <a:off x="7883426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825" dirty="0"/>
          </a:p>
        </p:txBody>
      </p:sp>
      <p:sp>
        <p:nvSpPr>
          <p:cNvPr id="171" name="Shape 168"/>
          <p:cNvSpPr/>
          <p:nvPr/>
        </p:nvSpPr>
        <p:spPr>
          <a:xfrm>
            <a:off x="8262045" y="4199483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44537"/>
          </a:solidFill>
          <a:ln/>
        </p:spPr>
      </p:sp>
      <p:sp>
        <p:nvSpPr>
          <p:cNvPr id="172" name="Text 169"/>
          <p:cNvSpPr/>
          <p:nvPr/>
        </p:nvSpPr>
        <p:spPr>
          <a:xfrm>
            <a:off x="8408119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</a:t>
            </a:r>
            <a:endParaRPr lang="en-US" sz="825" dirty="0"/>
          </a:p>
        </p:txBody>
      </p:sp>
      <p:sp>
        <p:nvSpPr>
          <p:cNvPr id="173" name="Shape 170"/>
          <p:cNvSpPr/>
          <p:nvPr/>
        </p:nvSpPr>
        <p:spPr>
          <a:xfrm>
            <a:off x="8786738" y="4199483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19D95"/>
          </a:solidFill>
          <a:ln/>
        </p:spPr>
      </p:sp>
      <p:sp>
        <p:nvSpPr>
          <p:cNvPr id="174" name="Text 171"/>
          <p:cNvSpPr/>
          <p:nvPr/>
        </p:nvSpPr>
        <p:spPr>
          <a:xfrm>
            <a:off x="8932738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825" dirty="0"/>
          </a:p>
        </p:txBody>
      </p:sp>
      <p:sp>
        <p:nvSpPr>
          <p:cNvPr id="175" name="Shape 172"/>
          <p:cNvSpPr/>
          <p:nvPr/>
        </p:nvSpPr>
        <p:spPr>
          <a:xfrm>
            <a:off x="9311357" y="4199483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A574B"/>
          </a:solidFill>
          <a:ln/>
        </p:spPr>
      </p:sp>
      <p:sp>
        <p:nvSpPr>
          <p:cNvPr id="176" name="Text 173"/>
          <p:cNvSpPr/>
          <p:nvPr/>
        </p:nvSpPr>
        <p:spPr>
          <a:xfrm>
            <a:off x="9457432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</a:t>
            </a:r>
            <a:endParaRPr lang="en-US" sz="825" dirty="0"/>
          </a:p>
        </p:txBody>
      </p:sp>
      <p:sp>
        <p:nvSpPr>
          <p:cNvPr id="177" name="Shape 174"/>
          <p:cNvSpPr/>
          <p:nvPr/>
        </p:nvSpPr>
        <p:spPr>
          <a:xfrm>
            <a:off x="9836051" y="4199483"/>
            <a:ext cx="496119" cy="364034"/>
          </a:xfrm>
          <a:prstGeom prst="roundRect">
            <a:avLst>
              <a:gd name="adj" fmla="val 7850"/>
            </a:avLst>
          </a:prstGeom>
          <a:solidFill>
            <a:srgbClr val="D77F75"/>
          </a:solidFill>
          <a:ln/>
        </p:spPr>
      </p:sp>
      <p:sp>
        <p:nvSpPr>
          <p:cNvPr id="178" name="Text 175"/>
          <p:cNvSpPr/>
          <p:nvPr/>
        </p:nvSpPr>
        <p:spPr>
          <a:xfrm>
            <a:off x="9982126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825" dirty="0"/>
          </a:p>
        </p:txBody>
      </p:sp>
      <p:sp>
        <p:nvSpPr>
          <p:cNvPr id="179" name="Shape 176"/>
          <p:cNvSpPr/>
          <p:nvPr/>
        </p:nvSpPr>
        <p:spPr>
          <a:xfrm>
            <a:off x="10360744" y="4199483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3A29A"/>
          </a:solidFill>
          <a:ln/>
        </p:spPr>
      </p:sp>
      <p:sp>
        <p:nvSpPr>
          <p:cNvPr id="180" name="Text 177"/>
          <p:cNvSpPr/>
          <p:nvPr/>
        </p:nvSpPr>
        <p:spPr>
          <a:xfrm>
            <a:off x="10506745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825" dirty="0"/>
          </a:p>
        </p:txBody>
      </p:sp>
      <p:sp>
        <p:nvSpPr>
          <p:cNvPr id="181" name="Shape 178"/>
          <p:cNvSpPr/>
          <p:nvPr/>
        </p:nvSpPr>
        <p:spPr>
          <a:xfrm>
            <a:off x="10885363" y="4199483"/>
            <a:ext cx="496119" cy="364034"/>
          </a:xfrm>
          <a:prstGeom prst="roundRect">
            <a:avLst>
              <a:gd name="adj" fmla="val 7850"/>
            </a:avLst>
          </a:prstGeom>
          <a:solidFill>
            <a:srgbClr val="D88178"/>
          </a:solidFill>
          <a:ln/>
        </p:spPr>
      </p:sp>
      <p:sp>
        <p:nvSpPr>
          <p:cNvPr id="182" name="Text 179"/>
          <p:cNvSpPr/>
          <p:nvPr/>
        </p:nvSpPr>
        <p:spPr>
          <a:xfrm>
            <a:off x="11031438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825" dirty="0"/>
          </a:p>
        </p:txBody>
      </p:sp>
      <p:sp>
        <p:nvSpPr>
          <p:cNvPr id="183" name="Shape 180"/>
          <p:cNvSpPr/>
          <p:nvPr/>
        </p:nvSpPr>
        <p:spPr>
          <a:xfrm>
            <a:off x="11410057" y="4199483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B5A4E"/>
          </a:solidFill>
          <a:ln/>
        </p:spPr>
      </p:sp>
      <p:sp>
        <p:nvSpPr>
          <p:cNvPr id="184" name="Text 181"/>
          <p:cNvSpPr/>
          <p:nvPr/>
        </p:nvSpPr>
        <p:spPr>
          <a:xfrm>
            <a:off x="11556132" y="43195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</a:t>
            </a:r>
            <a:endParaRPr lang="en-US" sz="825" dirty="0"/>
          </a:p>
        </p:txBody>
      </p:sp>
      <p:sp>
        <p:nvSpPr>
          <p:cNvPr id="185" name="Text 182"/>
          <p:cNvSpPr/>
          <p:nvPr/>
        </p:nvSpPr>
        <p:spPr>
          <a:xfrm>
            <a:off x="6280100" y="4712196"/>
            <a:ext cx="1211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&amp; compliance</a:t>
            </a:r>
            <a:endParaRPr lang="en-US" sz="825" dirty="0"/>
          </a:p>
        </p:txBody>
      </p:sp>
      <p:sp>
        <p:nvSpPr>
          <p:cNvPr id="186" name="Shape 183"/>
          <p:cNvSpPr/>
          <p:nvPr/>
        </p:nvSpPr>
        <p:spPr>
          <a:xfrm>
            <a:off x="7737425" y="4592092"/>
            <a:ext cx="496044" cy="364108"/>
          </a:xfrm>
          <a:prstGeom prst="roundRect">
            <a:avLst>
              <a:gd name="adj" fmla="val 7848"/>
            </a:avLst>
          </a:prstGeom>
          <a:solidFill>
            <a:srgbClr val="BBCBDD"/>
          </a:solidFill>
          <a:ln/>
        </p:spPr>
      </p:sp>
      <p:sp>
        <p:nvSpPr>
          <p:cNvPr id="187" name="Text 184"/>
          <p:cNvSpPr/>
          <p:nvPr/>
        </p:nvSpPr>
        <p:spPr>
          <a:xfrm>
            <a:off x="7883426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</a:t>
            </a:r>
            <a:endParaRPr lang="en-US" sz="825" dirty="0"/>
          </a:p>
        </p:txBody>
      </p:sp>
      <p:sp>
        <p:nvSpPr>
          <p:cNvPr id="188" name="Shape 185"/>
          <p:cNvSpPr/>
          <p:nvPr/>
        </p:nvSpPr>
        <p:spPr>
          <a:xfrm>
            <a:off x="8262045" y="4592092"/>
            <a:ext cx="496119" cy="364108"/>
          </a:xfrm>
          <a:prstGeom prst="roundRect">
            <a:avLst>
              <a:gd name="adj" fmla="val 7848"/>
            </a:avLst>
          </a:prstGeom>
          <a:solidFill>
            <a:srgbClr val="E9B4AE"/>
          </a:solidFill>
          <a:ln/>
        </p:spPr>
      </p:sp>
      <p:sp>
        <p:nvSpPr>
          <p:cNvPr id="189" name="Text 186"/>
          <p:cNvSpPr/>
          <p:nvPr/>
        </p:nvSpPr>
        <p:spPr>
          <a:xfrm>
            <a:off x="8408119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825" dirty="0"/>
          </a:p>
        </p:txBody>
      </p:sp>
      <p:sp>
        <p:nvSpPr>
          <p:cNvPr id="190" name="Shape 187"/>
          <p:cNvSpPr/>
          <p:nvPr/>
        </p:nvSpPr>
        <p:spPr>
          <a:xfrm>
            <a:off x="8786738" y="4592092"/>
            <a:ext cx="496044" cy="364108"/>
          </a:xfrm>
          <a:prstGeom prst="roundRect">
            <a:avLst>
              <a:gd name="adj" fmla="val 7848"/>
            </a:avLst>
          </a:prstGeom>
          <a:solidFill>
            <a:srgbClr val="B7C7DB"/>
          </a:solidFill>
          <a:ln/>
        </p:spPr>
      </p:sp>
      <p:sp>
        <p:nvSpPr>
          <p:cNvPr id="191" name="Text 188"/>
          <p:cNvSpPr/>
          <p:nvPr/>
        </p:nvSpPr>
        <p:spPr>
          <a:xfrm>
            <a:off x="8932738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</a:t>
            </a:r>
            <a:endParaRPr lang="en-US" sz="825" dirty="0"/>
          </a:p>
        </p:txBody>
      </p:sp>
      <p:sp>
        <p:nvSpPr>
          <p:cNvPr id="192" name="Shape 189"/>
          <p:cNvSpPr/>
          <p:nvPr/>
        </p:nvSpPr>
        <p:spPr>
          <a:xfrm>
            <a:off x="9311357" y="4592092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CE4EE"/>
          </a:solidFill>
          <a:ln/>
        </p:spPr>
      </p:sp>
      <p:sp>
        <p:nvSpPr>
          <p:cNvPr id="193" name="Text 190"/>
          <p:cNvSpPr/>
          <p:nvPr/>
        </p:nvSpPr>
        <p:spPr>
          <a:xfrm>
            <a:off x="9457432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825" dirty="0"/>
          </a:p>
        </p:txBody>
      </p:sp>
      <p:sp>
        <p:nvSpPr>
          <p:cNvPr id="194" name="Shape 191"/>
          <p:cNvSpPr/>
          <p:nvPr/>
        </p:nvSpPr>
        <p:spPr>
          <a:xfrm>
            <a:off x="9836051" y="4592092"/>
            <a:ext cx="496119" cy="364108"/>
          </a:xfrm>
          <a:prstGeom prst="roundRect">
            <a:avLst>
              <a:gd name="adj" fmla="val 7848"/>
            </a:avLst>
          </a:prstGeom>
          <a:solidFill>
            <a:srgbClr val="CC5E53"/>
          </a:solidFill>
          <a:ln/>
        </p:spPr>
      </p:sp>
      <p:sp>
        <p:nvSpPr>
          <p:cNvPr id="195" name="Text 192"/>
          <p:cNvSpPr/>
          <p:nvPr/>
        </p:nvSpPr>
        <p:spPr>
          <a:xfrm>
            <a:off x="9982126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</a:t>
            </a:r>
            <a:endParaRPr lang="en-US" sz="825" dirty="0"/>
          </a:p>
        </p:txBody>
      </p:sp>
      <p:sp>
        <p:nvSpPr>
          <p:cNvPr id="196" name="Shape 193"/>
          <p:cNvSpPr/>
          <p:nvPr/>
        </p:nvSpPr>
        <p:spPr>
          <a:xfrm>
            <a:off x="10360744" y="4592092"/>
            <a:ext cx="496044" cy="364108"/>
          </a:xfrm>
          <a:prstGeom prst="roundRect">
            <a:avLst>
              <a:gd name="adj" fmla="val 7848"/>
            </a:avLst>
          </a:prstGeom>
          <a:solidFill>
            <a:srgbClr val="ECBEB8"/>
          </a:solidFill>
          <a:ln/>
        </p:spPr>
      </p:sp>
      <p:sp>
        <p:nvSpPr>
          <p:cNvPr id="197" name="Text 194"/>
          <p:cNvSpPr/>
          <p:nvPr/>
        </p:nvSpPr>
        <p:spPr>
          <a:xfrm>
            <a:off x="10506745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825" dirty="0"/>
          </a:p>
        </p:txBody>
      </p:sp>
      <p:sp>
        <p:nvSpPr>
          <p:cNvPr id="198" name="Shape 195"/>
          <p:cNvSpPr/>
          <p:nvPr/>
        </p:nvSpPr>
        <p:spPr>
          <a:xfrm>
            <a:off x="10885363" y="4592092"/>
            <a:ext cx="496119" cy="364108"/>
          </a:xfrm>
          <a:prstGeom prst="roundRect">
            <a:avLst>
              <a:gd name="adj" fmla="val 7848"/>
            </a:avLst>
          </a:prstGeom>
          <a:solidFill>
            <a:srgbClr val="E8EDF4"/>
          </a:solidFill>
          <a:ln/>
        </p:spPr>
      </p:sp>
      <p:sp>
        <p:nvSpPr>
          <p:cNvPr id="199" name="Text 196"/>
          <p:cNvSpPr/>
          <p:nvPr/>
        </p:nvSpPr>
        <p:spPr>
          <a:xfrm>
            <a:off x="11031438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</a:t>
            </a:r>
            <a:endParaRPr lang="en-US" sz="825" dirty="0"/>
          </a:p>
        </p:txBody>
      </p:sp>
      <p:sp>
        <p:nvSpPr>
          <p:cNvPr id="200" name="Shape 197"/>
          <p:cNvSpPr/>
          <p:nvPr/>
        </p:nvSpPr>
        <p:spPr>
          <a:xfrm>
            <a:off x="11410057" y="4592092"/>
            <a:ext cx="496119" cy="364108"/>
          </a:xfrm>
          <a:prstGeom prst="roundRect">
            <a:avLst>
              <a:gd name="adj" fmla="val 7848"/>
            </a:avLst>
          </a:prstGeom>
          <a:solidFill>
            <a:srgbClr val="C23E30"/>
          </a:solidFill>
          <a:ln/>
        </p:spPr>
      </p:sp>
      <p:sp>
        <p:nvSpPr>
          <p:cNvPr id="201" name="Text 198"/>
          <p:cNvSpPr/>
          <p:nvPr/>
        </p:nvSpPr>
        <p:spPr>
          <a:xfrm>
            <a:off x="11556132" y="4712196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</a:t>
            </a:r>
            <a:endParaRPr lang="en-US" sz="825" dirty="0"/>
          </a:p>
        </p:txBody>
      </p:sp>
      <p:sp>
        <p:nvSpPr>
          <p:cNvPr id="202" name="Text 199"/>
          <p:cNvSpPr/>
          <p:nvPr/>
        </p:nvSpPr>
        <p:spPr>
          <a:xfrm>
            <a:off x="6280100" y="5104879"/>
            <a:ext cx="9031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</a:t>
            </a:r>
            <a:endParaRPr lang="en-US" sz="825" dirty="0"/>
          </a:p>
        </p:txBody>
      </p:sp>
      <p:sp>
        <p:nvSpPr>
          <p:cNvPr id="203" name="Shape 200"/>
          <p:cNvSpPr/>
          <p:nvPr/>
        </p:nvSpPr>
        <p:spPr>
          <a:xfrm>
            <a:off x="7737425" y="4984775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19D95"/>
          </a:solidFill>
          <a:ln/>
        </p:spPr>
      </p:sp>
      <p:sp>
        <p:nvSpPr>
          <p:cNvPr id="204" name="Text 201"/>
          <p:cNvSpPr/>
          <p:nvPr/>
        </p:nvSpPr>
        <p:spPr>
          <a:xfrm>
            <a:off x="7883426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825" dirty="0"/>
          </a:p>
        </p:txBody>
      </p:sp>
      <p:sp>
        <p:nvSpPr>
          <p:cNvPr id="205" name="Shape 202"/>
          <p:cNvSpPr/>
          <p:nvPr/>
        </p:nvSpPr>
        <p:spPr>
          <a:xfrm>
            <a:off x="8262045" y="4984775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0E7F0"/>
          </a:solidFill>
          <a:ln/>
        </p:spPr>
      </p:sp>
      <p:sp>
        <p:nvSpPr>
          <p:cNvPr id="206" name="Text 203"/>
          <p:cNvSpPr/>
          <p:nvPr/>
        </p:nvSpPr>
        <p:spPr>
          <a:xfrm>
            <a:off x="8408119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</a:t>
            </a:r>
            <a:endParaRPr lang="en-US" sz="825" dirty="0"/>
          </a:p>
        </p:txBody>
      </p:sp>
      <p:sp>
        <p:nvSpPr>
          <p:cNvPr id="207" name="Shape 204"/>
          <p:cNvSpPr/>
          <p:nvPr/>
        </p:nvSpPr>
        <p:spPr>
          <a:xfrm>
            <a:off x="8786738" y="4984775"/>
            <a:ext cx="496044" cy="364034"/>
          </a:xfrm>
          <a:prstGeom prst="roundRect">
            <a:avLst>
              <a:gd name="adj" fmla="val 7850"/>
            </a:avLst>
          </a:prstGeom>
          <a:solidFill>
            <a:srgbClr val="C3D1E1"/>
          </a:solidFill>
          <a:ln/>
        </p:spPr>
      </p:sp>
      <p:sp>
        <p:nvSpPr>
          <p:cNvPr id="208" name="Text 205"/>
          <p:cNvSpPr/>
          <p:nvPr/>
        </p:nvSpPr>
        <p:spPr>
          <a:xfrm>
            <a:off x="8932738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1.21</a:t>
            </a:r>
            <a:endParaRPr lang="en-US" sz="825" dirty="0"/>
          </a:p>
        </p:txBody>
      </p:sp>
      <p:sp>
        <p:nvSpPr>
          <p:cNvPr id="209" name="Shape 206"/>
          <p:cNvSpPr/>
          <p:nvPr/>
        </p:nvSpPr>
        <p:spPr>
          <a:xfrm>
            <a:off x="9311357" y="4984775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09B93"/>
          </a:solidFill>
          <a:ln/>
        </p:spPr>
      </p:sp>
      <p:sp>
        <p:nvSpPr>
          <p:cNvPr id="210" name="Text 207"/>
          <p:cNvSpPr/>
          <p:nvPr/>
        </p:nvSpPr>
        <p:spPr>
          <a:xfrm>
            <a:off x="9457432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825" dirty="0"/>
          </a:p>
        </p:txBody>
      </p:sp>
      <p:sp>
        <p:nvSpPr>
          <p:cNvPr id="211" name="Shape 208"/>
          <p:cNvSpPr/>
          <p:nvPr/>
        </p:nvSpPr>
        <p:spPr>
          <a:xfrm>
            <a:off x="9836051" y="4984775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EF2F7"/>
          </a:solidFill>
          <a:ln/>
        </p:spPr>
      </p:sp>
      <p:sp>
        <p:nvSpPr>
          <p:cNvPr id="212" name="Text 209"/>
          <p:cNvSpPr/>
          <p:nvPr/>
        </p:nvSpPr>
        <p:spPr>
          <a:xfrm>
            <a:off x="9982126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25" dirty="0"/>
          </a:p>
        </p:txBody>
      </p:sp>
      <p:sp>
        <p:nvSpPr>
          <p:cNvPr id="213" name="Shape 210"/>
          <p:cNvSpPr/>
          <p:nvPr/>
        </p:nvSpPr>
        <p:spPr>
          <a:xfrm>
            <a:off x="10360744" y="4984775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6ABA4"/>
          </a:solidFill>
          <a:ln/>
        </p:spPr>
      </p:sp>
      <p:sp>
        <p:nvSpPr>
          <p:cNvPr id="214" name="Text 211"/>
          <p:cNvSpPr/>
          <p:nvPr/>
        </p:nvSpPr>
        <p:spPr>
          <a:xfrm>
            <a:off x="10506745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825" dirty="0"/>
          </a:p>
        </p:txBody>
      </p:sp>
      <p:sp>
        <p:nvSpPr>
          <p:cNvPr id="215" name="Shape 212"/>
          <p:cNvSpPr/>
          <p:nvPr/>
        </p:nvSpPr>
        <p:spPr>
          <a:xfrm>
            <a:off x="10885363" y="4984775"/>
            <a:ext cx="496119" cy="364034"/>
          </a:xfrm>
          <a:prstGeom prst="roundRect">
            <a:avLst>
              <a:gd name="adj" fmla="val 7850"/>
            </a:avLst>
          </a:prstGeom>
          <a:solidFill>
            <a:srgbClr val="D26F64"/>
          </a:solidFill>
          <a:ln/>
        </p:spPr>
      </p:sp>
      <p:sp>
        <p:nvSpPr>
          <p:cNvPr id="216" name="Text 213"/>
          <p:cNvSpPr/>
          <p:nvPr/>
        </p:nvSpPr>
        <p:spPr>
          <a:xfrm>
            <a:off x="11031438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</a:t>
            </a:r>
            <a:endParaRPr lang="en-US" sz="825" dirty="0"/>
          </a:p>
        </p:txBody>
      </p:sp>
      <p:sp>
        <p:nvSpPr>
          <p:cNvPr id="217" name="Shape 214"/>
          <p:cNvSpPr/>
          <p:nvPr/>
        </p:nvSpPr>
        <p:spPr>
          <a:xfrm>
            <a:off x="11410057" y="4984775"/>
            <a:ext cx="496119" cy="364034"/>
          </a:xfrm>
          <a:prstGeom prst="roundRect">
            <a:avLst>
              <a:gd name="adj" fmla="val 7850"/>
            </a:avLst>
          </a:prstGeom>
          <a:solidFill>
            <a:srgbClr val="F1CCC7"/>
          </a:solidFill>
          <a:ln/>
        </p:spPr>
      </p:sp>
      <p:sp>
        <p:nvSpPr>
          <p:cNvPr id="218" name="Text 215"/>
          <p:cNvSpPr/>
          <p:nvPr/>
        </p:nvSpPr>
        <p:spPr>
          <a:xfrm>
            <a:off x="11556132" y="5104879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825" dirty="0"/>
          </a:p>
        </p:txBody>
      </p:sp>
      <p:sp>
        <p:nvSpPr>
          <p:cNvPr id="219" name="Text 216"/>
          <p:cNvSpPr/>
          <p:nvPr/>
        </p:nvSpPr>
        <p:spPr>
          <a:xfrm>
            <a:off x="6280100" y="5497488"/>
            <a:ext cx="9614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sciences</a:t>
            </a:r>
            <a:endParaRPr lang="en-US" sz="825" dirty="0"/>
          </a:p>
        </p:txBody>
      </p:sp>
      <p:sp>
        <p:nvSpPr>
          <p:cNvPr id="220" name="Shape 217"/>
          <p:cNvSpPr/>
          <p:nvPr/>
        </p:nvSpPr>
        <p:spPr>
          <a:xfrm>
            <a:off x="7737425" y="5377383"/>
            <a:ext cx="496044" cy="364108"/>
          </a:xfrm>
          <a:prstGeom prst="roundRect">
            <a:avLst>
              <a:gd name="adj" fmla="val 7848"/>
            </a:avLst>
          </a:prstGeom>
          <a:solidFill>
            <a:srgbClr val="A3B8D0"/>
          </a:solidFill>
          <a:ln/>
        </p:spPr>
      </p:sp>
      <p:sp>
        <p:nvSpPr>
          <p:cNvPr id="221" name="Text 218"/>
          <p:cNvSpPr/>
          <p:nvPr/>
        </p:nvSpPr>
        <p:spPr>
          <a:xfrm>
            <a:off x="7883426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</a:t>
            </a:r>
            <a:endParaRPr lang="en-US" sz="825" dirty="0"/>
          </a:p>
        </p:txBody>
      </p:sp>
      <p:sp>
        <p:nvSpPr>
          <p:cNvPr id="222" name="Shape 219"/>
          <p:cNvSpPr/>
          <p:nvPr/>
        </p:nvSpPr>
        <p:spPr>
          <a:xfrm>
            <a:off x="8262045" y="5377383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16C61"/>
          </a:solidFill>
          <a:ln/>
        </p:spPr>
      </p:sp>
      <p:sp>
        <p:nvSpPr>
          <p:cNvPr id="223" name="Text 220"/>
          <p:cNvSpPr/>
          <p:nvPr/>
        </p:nvSpPr>
        <p:spPr>
          <a:xfrm>
            <a:off x="8408119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825" dirty="0"/>
          </a:p>
        </p:txBody>
      </p:sp>
      <p:sp>
        <p:nvSpPr>
          <p:cNvPr id="224" name="Shape 221"/>
          <p:cNvSpPr/>
          <p:nvPr/>
        </p:nvSpPr>
        <p:spPr>
          <a:xfrm>
            <a:off x="8786738" y="5377383"/>
            <a:ext cx="496044" cy="364108"/>
          </a:xfrm>
          <a:prstGeom prst="roundRect">
            <a:avLst>
              <a:gd name="adj" fmla="val 7848"/>
            </a:avLst>
          </a:prstGeom>
          <a:solidFill>
            <a:srgbClr val="C64C3F"/>
          </a:solidFill>
          <a:ln/>
        </p:spPr>
      </p:sp>
      <p:sp>
        <p:nvSpPr>
          <p:cNvPr id="225" name="Text 222"/>
          <p:cNvSpPr/>
          <p:nvPr/>
        </p:nvSpPr>
        <p:spPr>
          <a:xfrm>
            <a:off x="8932738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</a:t>
            </a:r>
            <a:endParaRPr lang="en-US" sz="825" dirty="0"/>
          </a:p>
        </p:txBody>
      </p:sp>
      <p:sp>
        <p:nvSpPr>
          <p:cNvPr id="226" name="Shape 223"/>
          <p:cNvSpPr/>
          <p:nvPr/>
        </p:nvSpPr>
        <p:spPr>
          <a:xfrm>
            <a:off x="9311357" y="5377383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C8D84"/>
          </a:solidFill>
          <a:ln/>
        </p:spPr>
      </p:sp>
      <p:sp>
        <p:nvSpPr>
          <p:cNvPr id="227" name="Text 224"/>
          <p:cNvSpPr/>
          <p:nvPr/>
        </p:nvSpPr>
        <p:spPr>
          <a:xfrm>
            <a:off x="9457432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</a:t>
            </a:r>
            <a:endParaRPr lang="en-US" sz="825" dirty="0"/>
          </a:p>
        </p:txBody>
      </p:sp>
      <p:sp>
        <p:nvSpPr>
          <p:cNvPr id="228" name="Shape 225"/>
          <p:cNvSpPr/>
          <p:nvPr/>
        </p:nvSpPr>
        <p:spPr>
          <a:xfrm>
            <a:off x="9836051" y="5377383"/>
            <a:ext cx="496119" cy="364108"/>
          </a:xfrm>
          <a:prstGeom prst="roundRect">
            <a:avLst>
              <a:gd name="adj" fmla="val 7848"/>
            </a:avLst>
          </a:prstGeom>
          <a:solidFill>
            <a:srgbClr val="EAB7B0"/>
          </a:solidFill>
          <a:ln/>
        </p:spPr>
      </p:sp>
      <p:sp>
        <p:nvSpPr>
          <p:cNvPr id="229" name="Text 226"/>
          <p:cNvSpPr/>
          <p:nvPr/>
        </p:nvSpPr>
        <p:spPr>
          <a:xfrm>
            <a:off x="9982126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825" dirty="0"/>
          </a:p>
        </p:txBody>
      </p:sp>
      <p:sp>
        <p:nvSpPr>
          <p:cNvPr id="230" name="Shape 227"/>
          <p:cNvSpPr/>
          <p:nvPr/>
        </p:nvSpPr>
        <p:spPr>
          <a:xfrm>
            <a:off x="10360744" y="5377383"/>
            <a:ext cx="496044" cy="364108"/>
          </a:xfrm>
          <a:prstGeom prst="roundRect">
            <a:avLst>
              <a:gd name="adj" fmla="val 7848"/>
            </a:avLst>
          </a:prstGeom>
          <a:solidFill>
            <a:srgbClr val="DA887F"/>
          </a:solidFill>
          <a:ln/>
        </p:spPr>
      </p:sp>
      <p:sp>
        <p:nvSpPr>
          <p:cNvPr id="231" name="Text 228"/>
          <p:cNvSpPr/>
          <p:nvPr/>
        </p:nvSpPr>
        <p:spPr>
          <a:xfrm>
            <a:off x="10506745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825" dirty="0"/>
          </a:p>
        </p:txBody>
      </p:sp>
      <p:sp>
        <p:nvSpPr>
          <p:cNvPr id="232" name="Shape 229"/>
          <p:cNvSpPr/>
          <p:nvPr/>
        </p:nvSpPr>
        <p:spPr>
          <a:xfrm>
            <a:off x="10885363" y="5377383"/>
            <a:ext cx="496119" cy="364108"/>
          </a:xfrm>
          <a:prstGeom prst="roundRect">
            <a:avLst>
              <a:gd name="adj" fmla="val 7848"/>
            </a:avLst>
          </a:prstGeom>
          <a:solidFill>
            <a:srgbClr val="D4DEE9"/>
          </a:solidFill>
          <a:ln/>
        </p:spPr>
      </p:sp>
      <p:sp>
        <p:nvSpPr>
          <p:cNvPr id="233" name="Text 230"/>
          <p:cNvSpPr/>
          <p:nvPr/>
        </p:nvSpPr>
        <p:spPr>
          <a:xfrm>
            <a:off x="11031438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</a:t>
            </a:r>
            <a:endParaRPr lang="en-US" sz="825" dirty="0"/>
          </a:p>
        </p:txBody>
      </p:sp>
      <p:sp>
        <p:nvSpPr>
          <p:cNvPr id="234" name="Shape 231"/>
          <p:cNvSpPr/>
          <p:nvPr/>
        </p:nvSpPr>
        <p:spPr>
          <a:xfrm>
            <a:off x="11410057" y="5377383"/>
            <a:ext cx="496119" cy="364108"/>
          </a:xfrm>
          <a:prstGeom prst="roundRect">
            <a:avLst>
              <a:gd name="adj" fmla="val 7848"/>
            </a:avLst>
          </a:prstGeom>
          <a:solidFill>
            <a:srgbClr val="A3B8D0"/>
          </a:solidFill>
          <a:ln/>
        </p:spPr>
      </p:sp>
      <p:sp>
        <p:nvSpPr>
          <p:cNvPr id="235" name="Text 232"/>
          <p:cNvSpPr/>
          <p:nvPr/>
        </p:nvSpPr>
        <p:spPr>
          <a:xfrm>
            <a:off x="11556132" y="5497488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</a:t>
            </a:r>
            <a:endParaRPr lang="en-US" sz="825" dirty="0"/>
          </a:p>
        </p:txBody>
      </p:sp>
      <p:sp>
        <p:nvSpPr>
          <p:cNvPr id="236" name="Text 233"/>
          <p:cNvSpPr/>
          <p:nvPr/>
        </p:nvSpPr>
        <p:spPr>
          <a:xfrm>
            <a:off x="6280100" y="5890171"/>
            <a:ext cx="9031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sciences</a:t>
            </a:r>
            <a:endParaRPr lang="en-US" sz="825" dirty="0"/>
          </a:p>
        </p:txBody>
      </p:sp>
      <p:sp>
        <p:nvSpPr>
          <p:cNvPr id="237" name="Shape 234"/>
          <p:cNvSpPr/>
          <p:nvPr/>
        </p:nvSpPr>
        <p:spPr>
          <a:xfrm>
            <a:off x="7737425" y="5770066"/>
            <a:ext cx="496044" cy="364034"/>
          </a:xfrm>
          <a:prstGeom prst="roundRect">
            <a:avLst>
              <a:gd name="adj" fmla="val 7850"/>
            </a:avLst>
          </a:prstGeom>
          <a:solidFill>
            <a:srgbClr val="E3A49D"/>
          </a:solidFill>
          <a:ln/>
        </p:spPr>
      </p:sp>
      <p:sp>
        <p:nvSpPr>
          <p:cNvPr id="238" name="Text 235"/>
          <p:cNvSpPr/>
          <p:nvPr/>
        </p:nvSpPr>
        <p:spPr>
          <a:xfrm>
            <a:off x="7883426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825" dirty="0"/>
          </a:p>
        </p:txBody>
      </p:sp>
      <p:sp>
        <p:nvSpPr>
          <p:cNvPr id="239" name="Shape 236"/>
          <p:cNvSpPr/>
          <p:nvPr/>
        </p:nvSpPr>
        <p:spPr>
          <a:xfrm>
            <a:off x="8262045" y="5770066"/>
            <a:ext cx="496119" cy="364034"/>
          </a:xfrm>
          <a:prstGeom prst="roundRect">
            <a:avLst>
              <a:gd name="adj" fmla="val 7850"/>
            </a:avLst>
          </a:prstGeom>
          <a:solidFill>
            <a:srgbClr val="DF968E"/>
          </a:solidFill>
          <a:ln/>
        </p:spPr>
      </p:sp>
      <p:sp>
        <p:nvSpPr>
          <p:cNvPr id="240" name="Text 237"/>
          <p:cNvSpPr/>
          <p:nvPr/>
        </p:nvSpPr>
        <p:spPr>
          <a:xfrm>
            <a:off x="8408119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825" dirty="0"/>
          </a:p>
        </p:txBody>
      </p:sp>
      <p:sp>
        <p:nvSpPr>
          <p:cNvPr id="241" name="Shape 238"/>
          <p:cNvSpPr/>
          <p:nvPr/>
        </p:nvSpPr>
        <p:spPr>
          <a:xfrm>
            <a:off x="8786738" y="5770066"/>
            <a:ext cx="496044" cy="364034"/>
          </a:xfrm>
          <a:prstGeom prst="roundRect">
            <a:avLst>
              <a:gd name="adj" fmla="val 7850"/>
            </a:avLst>
          </a:prstGeom>
          <a:solidFill>
            <a:srgbClr val="CA574B"/>
          </a:solidFill>
          <a:ln/>
        </p:spPr>
      </p:sp>
      <p:sp>
        <p:nvSpPr>
          <p:cNvPr id="242" name="Text 239"/>
          <p:cNvSpPr/>
          <p:nvPr/>
        </p:nvSpPr>
        <p:spPr>
          <a:xfrm>
            <a:off x="8932738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</a:t>
            </a:r>
            <a:endParaRPr lang="en-US" sz="825" dirty="0"/>
          </a:p>
        </p:txBody>
      </p:sp>
      <p:sp>
        <p:nvSpPr>
          <p:cNvPr id="243" name="Shape 240"/>
          <p:cNvSpPr/>
          <p:nvPr/>
        </p:nvSpPr>
        <p:spPr>
          <a:xfrm>
            <a:off x="9311357" y="5770066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2E9F1"/>
          </a:solidFill>
          <a:ln/>
        </p:spPr>
      </p:sp>
      <p:sp>
        <p:nvSpPr>
          <p:cNvPr id="244" name="Text 241"/>
          <p:cNvSpPr/>
          <p:nvPr/>
        </p:nvSpPr>
        <p:spPr>
          <a:xfrm>
            <a:off x="9457432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</a:t>
            </a:r>
            <a:endParaRPr lang="en-US" sz="825" dirty="0"/>
          </a:p>
        </p:txBody>
      </p:sp>
      <p:sp>
        <p:nvSpPr>
          <p:cNvPr id="245" name="Shape 242"/>
          <p:cNvSpPr/>
          <p:nvPr/>
        </p:nvSpPr>
        <p:spPr>
          <a:xfrm>
            <a:off x="9836051" y="5770066"/>
            <a:ext cx="496119" cy="364034"/>
          </a:xfrm>
          <a:prstGeom prst="roundRect">
            <a:avLst>
              <a:gd name="adj" fmla="val 7850"/>
            </a:avLst>
          </a:prstGeom>
          <a:solidFill>
            <a:srgbClr val="E5A9A2"/>
          </a:solidFill>
          <a:ln/>
        </p:spPr>
      </p:sp>
      <p:sp>
        <p:nvSpPr>
          <p:cNvPr id="246" name="Text 243"/>
          <p:cNvSpPr/>
          <p:nvPr/>
        </p:nvSpPr>
        <p:spPr>
          <a:xfrm>
            <a:off x="9982126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7A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825" dirty="0"/>
          </a:p>
        </p:txBody>
      </p:sp>
      <p:sp>
        <p:nvSpPr>
          <p:cNvPr id="247" name="Shape 244"/>
          <p:cNvSpPr/>
          <p:nvPr/>
        </p:nvSpPr>
        <p:spPr>
          <a:xfrm>
            <a:off x="10360744" y="5770066"/>
            <a:ext cx="496044" cy="364034"/>
          </a:xfrm>
          <a:prstGeom prst="roundRect">
            <a:avLst>
              <a:gd name="adj" fmla="val 7850"/>
            </a:avLst>
          </a:prstGeom>
          <a:solidFill>
            <a:srgbClr val="D67A70"/>
          </a:solidFill>
          <a:ln/>
        </p:spPr>
      </p:sp>
      <p:sp>
        <p:nvSpPr>
          <p:cNvPr id="248" name="Text 245"/>
          <p:cNvSpPr/>
          <p:nvPr/>
        </p:nvSpPr>
        <p:spPr>
          <a:xfrm>
            <a:off x="10506745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</a:t>
            </a:r>
            <a:endParaRPr lang="en-US" sz="825" dirty="0"/>
          </a:p>
        </p:txBody>
      </p:sp>
      <p:sp>
        <p:nvSpPr>
          <p:cNvPr id="249" name="Shape 246"/>
          <p:cNvSpPr/>
          <p:nvPr/>
        </p:nvSpPr>
        <p:spPr>
          <a:xfrm>
            <a:off x="10885363" y="5770066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A574B"/>
          </a:solidFill>
          <a:ln/>
        </p:spPr>
      </p:sp>
      <p:sp>
        <p:nvSpPr>
          <p:cNvPr id="250" name="Text 247"/>
          <p:cNvSpPr/>
          <p:nvPr/>
        </p:nvSpPr>
        <p:spPr>
          <a:xfrm>
            <a:off x="11031438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</a:t>
            </a:r>
            <a:endParaRPr lang="en-US" sz="825" dirty="0"/>
          </a:p>
        </p:txBody>
      </p:sp>
      <p:sp>
        <p:nvSpPr>
          <p:cNvPr id="251" name="Shape 248"/>
          <p:cNvSpPr/>
          <p:nvPr/>
        </p:nvSpPr>
        <p:spPr>
          <a:xfrm>
            <a:off x="11410057" y="5770066"/>
            <a:ext cx="496119" cy="364034"/>
          </a:xfrm>
          <a:prstGeom prst="roundRect">
            <a:avLst>
              <a:gd name="adj" fmla="val 7850"/>
            </a:avLst>
          </a:prstGeom>
          <a:solidFill>
            <a:srgbClr val="C23E30"/>
          </a:solidFill>
          <a:ln/>
        </p:spPr>
      </p:sp>
      <p:sp>
        <p:nvSpPr>
          <p:cNvPr id="252" name="Text 249"/>
          <p:cNvSpPr/>
          <p:nvPr/>
        </p:nvSpPr>
        <p:spPr>
          <a:xfrm>
            <a:off x="11556132" y="5890171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</a:t>
            </a:r>
            <a:endParaRPr lang="en-US" sz="825" dirty="0"/>
          </a:p>
        </p:txBody>
      </p:sp>
      <p:sp>
        <p:nvSpPr>
          <p:cNvPr id="253" name="Shape 250"/>
          <p:cNvSpPr/>
          <p:nvPr/>
        </p:nvSpPr>
        <p:spPr>
          <a:xfrm>
            <a:off x="6280100" y="6229350"/>
            <a:ext cx="323850" cy="76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C0392B">
                  <a:alpha val="100000"/>
                </a:srgbClr>
              </a:gs>
              <a:gs pos="100000">
                <a:srgbClr val="F6DCD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54" name="Text 251"/>
          <p:cNvSpPr/>
          <p:nvPr/>
        </p:nvSpPr>
        <p:spPr>
          <a:xfrm>
            <a:off x="6661100" y="6210300"/>
            <a:ext cx="133536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1.0 · fewer hires than exits</a:t>
            </a:r>
            <a:endParaRPr lang="en-US" sz="788" dirty="0"/>
          </a:p>
        </p:txBody>
      </p:sp>
      <p:sp>
        <p:nvSpPr>
          <p:cNvPr id="255" name="Shape 252"/>
          <p:cNvSpPr/>
          <p:nvPr/>
        </p:nvSpPr>
        <p:spPr>
          <a:xfrm>
            <a:off x="8053611" y="6229350"/>
            <a:ext cx="323850" cy="762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EEF2F7">
                  <a:alpha val="100000"/>
                </a:srgbClr>
              </a:gs>
              <a:gs pos="100000">
                <a:srgbClr val="9DB3CD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56" name="Text 253"/>
          <p:cNvSpPr/>
          <p:nvPr/>
        </p:nvSpPr>
        <p:spPr>
          <a:xfrm>
            <a:off x="8434611" y="6210300"/>
            <a:ext cx="297954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1.0</a:t>
            </a:r>
            <a:endParaRPr lang="en-US" sz="7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0075"/>
            <a:ext cx="121920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538"/>
            <a:ext cx="478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57188"/>
            <a:ext cx="4789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federal attrition different from the market?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15993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36767" y="233362"/>
            <a:ext cx="4192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27466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48240" y="233362"/>
            <a:ext cx="882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02687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23461" y="233362"/>
            <a:ext cx="622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exit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17534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38308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08580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9354" y="233362"/>
            <a:ext cx="5906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gap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086654" y="166688"/>
            <a:ext cx="952946" cy="266700"/>
          </a:xfrm>
          <a:prstGeom prst="roundRect">
            <a:avLst>
              <a:gd name="adj" fmla="val 21429"/>
            </a:avLst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191429" y="233362"/>
            <a:ext cx="1398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12203" y="233362"/>
            <a:ext cx="698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76400" cy="659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6875" y="0"/>
            <a:ext cx="9525" cy="6591300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" y="102915"/>
            <a:ext cx="147637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Workforce Shock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33350" y="397148"/>
            <a:ext cx="154019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Leadership · 2018–Jul 2026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3350" y="60960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" y="7524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3350" y="10096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33350" y="11811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075" y="12573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0" y="13001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" y="16002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category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133350" y="177165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075" y="184785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189071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" y="219075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33350" y="2362200"/>
            <a:ext cx="1400175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075" y="2438400"/>
            <a:ext cx="1171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2481263"/>
            <a:ext cx="76200" cy="47625"/>
          </a:xfrm>
          <a:prstGeom prst="rect">
            <a:avLst/>
          </a:prstGeom>
          <a:solidFill>
            <a:srgbClr val="6B74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" y="2781300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33350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75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2018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62013" y="2962275"/>
            <a:ext cx="671513" cy="285750"/>
          </a:xfrm>
          <a:prstGeom prst="roundRect">
            <a:avLst>
              <a:gd name="adj" fmla="val 13333"/>
            </a:avLst>
          </a:prstGeom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438" y="2971800"/>
            <a:ext cx="72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D5D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" y="3362325"/>
            <a:ext cx="1323975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825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33242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3350" y="357187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u="sng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filters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3350" y="5505450"/>
            <a:ext cx="1400175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" y="5610225"/>
            <a:ext cx="15401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3350" y="5805488"/>
            <a:ext cx="95250" cy="9525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285750" y="5791200"/>
            <a:ext cx="95354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/ policy shock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33350" y="59864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285750" y="5972175"/>
            <a:ext cx="8624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values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33350" y="616743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285750" y="6153150"/>
            <a:ext cx="42557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133350" y="63484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285750" y="6334125"/>
            <a:ext cx="559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676400" y="6591300"/>
            <a:ext cx="10515600" cy="266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676400" y="6591300"/>
            <a:ext cx="10515600" cy="9525"/>
          </a:xfrm>
          <a:prstGeom prst="rect">
            <a:avLst/>
          </a:prstGeom>
          <a:solidFill>
            <a:srgbClr val="E3E6EB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0" y="6672263"/>
            <a:ext cx="8410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OPM Federal Workforce Data (record-level employment snapshots, separations, accessions), Jan 2018 – Jul 2026 · BLS JOLTS quits rates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9626798" y="6672263"/>
            <a:ext cx="2654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31 Jul 2026 · All figures are sample placeholders</a:t>
            </a:r>
            <a:endParaRPr lang="en-US" sz="788" dirty="0"/>
          </a:p>
        </p:txBody>
      </p:sp>
      <p:sp>
        <p:nvSpPr>
          <p:cNvPr id="61" name="Shape 59"/>
          <p:cNvSpPr/>
          <p:nvPr/>
        </p:nvSpPr>
        <p:spPr>
          <a:xfrm>
            <a:off x="1828800" y="762000"/>
            <a:ext cx="7620000" cy="5676900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962150" y="933450"/>
            <a:ext cx="238780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RESIGNATION / QUITS RATE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4323383" y="876300"/>
            <a:ext cx="1649313" cy="238125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64" name="Shape 62"/>
          <p:cNvSpPr/>
          <p:nvPr/>
        </p:nvSpPr>
        <p:spPr>
          <a:xfrm>
            <a:off x="4342433" y="895350"/>
            <a:ext cx="520824" cy="200025"/>
          </a:xfrm>
          <a:prstGeom prst="roundRect">
            <a:avLst>
              <a:gd name="adj" fmla="val 19048"/>
            </a:avLst>
          </a:prstGeom>
          <a:solidFill>
            <a:srgbClr val="1F3A5F"/>
          </a:solidFill>
          <a:ln/>
        </p:spPr>
      </p:sp>
      <p:sp>
        <p:nvSpPr>
          <p:cNvPr id="65" name="Text 63"/>
          <p:cNvSpPr/>
          <p:nvPr/>
        </p:nvSpPr>
        <p:spPr>
          <a:xfrm>
            <a:off x="4428158" y="933450"/>
            <a:ext cx="42557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%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4968032" y="933450"/>
            <a:ext cx="9760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(2019 = 100)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8666336" y="919162"/>
            <a:ext cx="649114" cy="152400"/>
          </a:xfrm>
          <a:prstGeom prst="roundRect">
            <a:avLst>
              <a:gd name="adj" fmla="val 18750"/>
            </a:avLst>
          </a:prstGeom>
          <a:solidFill>
            <a:srgbClr val="EEF0F3"/>
          </a:solidFill>
          <a:ln/>
        </p:spPr>
      </p:sp>
      <p:sp>
        <p:nvSpPr>
          <p:cNvPr id="68" name="Text 66"/>
          <p:cNvSpPr/>
          <p:nvPr/>
        </p:nvSpPr>
        <p:spPr>
          <a:xfrm>
            <a:off x="8723486" y="947737"/>
            <a:ext cx="61101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5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962150" y="1243013"/>
            <a:ext cx="152400" cy="1905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0" name="Text 68"/>
          <p:cNvSpPr/>
          <p:nvPr/>
        </p:nvSpPr>
        <p:spPr>
          <a:xfrm>
            <a:off x="2171700" y="1190625"/>
            <a:ext cx="148545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 resignation rate (federal)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3733354" y="1243013"/>
            <a:ext cx="152400" cy="19050"/>
          </a:xfrm>
          <a:prstGeom prst="rect">
            <a:avLst/>
          </a:prstGeom>
          <a:solidFill>
            <a:srgbClr val="7B8490"/>
          </a:solidFill>
          <a:ln/>
        </p:spPr>
      </p:sp>
      <p:sp>
        <p:nvSpPr>
          <p:cNvPr id="72" name="Text 70"/>
          <p:cNvSpPr/>
          <p:nvPr/>
        </p:nvSpPr>
        <p:spPr>
          <a:xfrm>
            <a:off x="3942904" y="1190625"/>
            <a:ext cx="16408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JOLTS quits · federal government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5659934" y="1243013"/>
            <a:ext cx="152400" cy="19050"/>
          </a:xfrm>
          <a:prstGeom prst="rect">
            <a:avLst/>
          </a:prstGeom>
          <a:solidFill>
            <a:srgbClr val="A3ACB7"/>
          </a:solidFill>
          <a:ln/>
        </p:spPr>
      </p:sp>
      <p:sp>
        <p:nvSpPr>
          <p:cNvPr id="74" name="Text 72"/>
          <p:cNvSpPr/>
          <p:nvPr/>
        </p:nvSpPr>
        <p:spPr>
          <a:xfrm>
            <a:off x="5869484" y="1190625"/>
            <a:ext cx="12796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JOLTS quits · total private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7225382" y="1204913"/>
            <a:ext cx="114300" cy="95250"/>
          </a:xfrm>
          <a:prstGeom prst="rect">
            <a:avLst/>
          </a:prstGeom>
          <a:solidFill>
            <a:srgbClr val="E8A33D">
              <a:alpha val="2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7396832" y="1190625"/>
            <a:ext cx="6741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DRP window</a:t>
            </a:r>
            <a:endParaRPr lang="en-US" sz="825" dirty="0"/>
          </a:p>
        </p:txBody>
      </p:sp>
      <p:pic>
        <p:nvPicPr>
          <p:cNvPr id="7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1390650"/>
            <a:ext cx="7353300" cy="4743450"/>
          </a:xfrm>
          <a:prstGeom prst="rect">
            <a:avLst/>
          </a:prstGeom>
        </p:spPr>
      </p:pic>
      <p:sp>
        <p:nvSpPr>
          <p:cNvPr id="78" name="Text 75"/>
          <p:cNvSpPr/>
          <p:nvPr/>
        </p:nvSpPr>
        <p:spPr>
          <a:xfrm>
            <a:off x="1962150" y="6210300"/>
            <a:ext cx="80886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OPM resignations ≠ JOLTS quits exactly. See definition notes. Index view rebases each series to its 2019 monthly average.</a:t>
            </a:r>
            <a:endParaRPr lang="en-US" sz="788" dirty="0"/>
          </a:p>
        </p:txBody>
      </p:sp>
      <p:sp>
        <p:nvSpPr>
          <p:cNvPr id="79" name="Shape 76"/>
          <p:cNvSpPr/>
          <p:nvPr/>
        </p:nvSpPr>
        <p:spPr>
          <a:xfrm>
            <a:off x="9601200" y="762000"/>
            <a:ext cx="2438400" cy="56769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101828">
                <a:alpha val="5000"/>
              </a:srgbClr>
            </a:outerShdw>
          </a:effectLst>
        </p:spPr>
      </p:sp>
      <p:sp>
        <p:nvSpPr>
          <p:cNvPr id="80" name="Text 77"/>
          <p:cNvSpPr/>
          <p:nvPr/>
        </p:nvSpPr>
        <p:spPr>
          <a:xfrm>
            <a:off x="9734550" y="876300"/>
            <a:ext cx="123713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NOTES ¹</a:t>
            </a:r>
            <a:endParaRPr lang="en-US" sz="825" dirty="0"/>
          </a:p>
        </p:txBody>
      </p:sp>
      <p:sp>
        <p:nvSpPr>
          <p:cNvPr id="81" name="Shape 78"/>
          <p:cNvSpPr/>
          <p:nvPr/>
        </p:nvSpPr>
        <p:spPr>
          <a:xfrm>
            <a:off x="9734550" y="1979116"/>
            <a:ext cx="217170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2" name="Text 79"/>
          <p:cNvSpPr/>
          <p:nvPr/>
        </p:nvSpPr>
        <p:spPr>
          <a:xfrm>
            <a:off x="9734550" y="1114425"/>
            <a:ext cx="23888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counts as leaving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9734550" y="1276350"/>
            <a:ext cx="224790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JOLTS quits are voluntary separations excluding retirements. OPM resignations are one separation_category; DRP exits may be coded as resignation or retirement.</a:t>
            </a:r>
            <a:endParaRPr lang="en-US" sz="825" dirty="0"/>
          </a:p>
        </p:txBody>
      </p:sp>
      <p:sp>
        <p:nvSpPr>
          <p:cNvPr id="84" name="Shape 81"/>
          <p:cNvSpPr/>
          <p:nvPr/>
        </p:nvSpPr>
        <p:spPr>
          <a:xfrm>
            <a:off x="9734550" y="2815754"/>
            <a:ext cx="217170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5" name="Text 82"/>
          <p:cNvSpPr/>
          <p:nvPr/>
        </p:nvSpPr>
        <p:spPr>
          <a:xfrm>
            <a:off x="9734550" y="2102941"/>
            <a:ext cx="23888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type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9734550" y="2264866"/>
            <a:ext cx="2247900" cy="493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 is administrative, record-level data. JOLTS is a monthly establishment survey estimate with sampling error.</a:t>
            </a:r>
            <a:endParaRPr lang="en-US" sz="825" dirty="0"/>
          </a:p>
        </p:txBody>
      </p:sp>
      <p:sp>
        <p:nvSpPr>
          <p:cNvPr id="87" name="Shape 84"/>
          <p:cNvSpPr/>
          <p:nvPr/>
        </p:nvSpPr>
        <p:spPr>
          <a:xfrm>
            <a:off x="9734550" y="3652391"/>
            <a:ext cx="217170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8" name="Text 85"/>
          <p:cNvSpPr/>
          <p:nvPr/>
        </p:nvSpPr>
        <p:spPr>
          <a:xfrm>
            <a:off x="9734550" y="2939579"/>
            <a:ext cx="23888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Denominator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9734550" y="3101504"/>
            <a:ext cx="2247900" cy="493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 rate uses headcount at snapshot_yyyymm. JOLTS rates use its own employment estimate for the month.</a:t>
            </a:r>
            <a:endParaRPr lang="en-US" sz="825" dirty="0"/>
          </a:p>
        </p:txBody>
      </p:sp>
      <p:sp>
        <p:nvSpPr>
          <p:cNvPr id="90" name="Shape 87"/>
          <p:cNvSpPr/>
          <p:nvPr/>
        </p:nvSpPr>
        <p:spPr>
          <a:xfrm>
            <a:off x="9734550" y="4489028"/>
            <a:ext cx="2171700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1" name="Text 88"/>
          <p:cNvSpPr/>
          <p:nvPr/>
        </p:nvSpPr>
        <p:spPr>
          <a:xfrm>
            <a:off x="9734550" y="3776216"/>
            <a:ext cx="23888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9734550" y="3938141"/>
            <a:ext cx="2247900" cy="493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825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coverage differs between the two sources (e.g. Postal Service, intelligence agencies). Compare trends, not levels.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2026-09-26T15:54:50Z</dcterms:created>
  <dcterms:modified xsi:type="dcterms:W3CDTF">2026-09-26T15:54:50Z</dcterms:modified>
</cp:coreProperties>
</file>